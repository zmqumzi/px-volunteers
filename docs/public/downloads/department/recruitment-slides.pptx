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8" r:id="rId5"/>
    <p:sldId id="260" r:id="rId6"/>
    <p:sldId id="261" r:id="rId7"/>
    <p:sldId id="262" r:id="rId8"/>
    <p:sldId id="25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2.jpe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2.jpe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2.jpe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2.jpe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2.jpe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3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51010184357"/>
          <p:cNvPicPr>
            <a:picLocks noChangeAspect="1"/>
          </p:cNvPicPr>
          <p:nvPr/>
        </p:nvPicPr>
        <p:blipFill>
          <a:blip r:embed="rId3"/>
          <a:srcRect l="302" t="11637" b="27616"/>
          <a:stretch>
            <a:fillRect/>
          </a:stretch>
        </p:blipFill>
        <p:spPr>
          <a:xfrm>
            <a:off x="0" y="-635"/>
            <a:ext cx="12191365" cy="685863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943600" y="1623695"/>
            <a:ext cx="309880" cy="186118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endParaRPr lang="zh-CN" altLang="en-US" sz="11500" b="1">
              <a:ln w="9525">
                <a:solidFill>
                  <a:schemeClr val="bg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41550" y="1779905"/>
            <a:ext cx="770826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80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深大志联培训部第二次面试</a:t>
            </a:r>
            <a:endParaRPr lang="zh-CN" altLang="en-US" sz="8000" b="1">
              <a:ln w="9525">
                <a:solidFill>
                  <a:schemeClr val="bg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微信图片_20251010185739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t="1918" b="9139"/>
          <a:stretch>
            <a:fillRect/>
          </a:stretch>
        </p:blipFill>
        <p:spPr>
          <a:xfrm>
            <a:off x="0" y="-67310"/>
            <a:ext cx="12191365" cy="685800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1431925" y="693420"/>
            <a:ext cx="9452610" cy="57156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52295" y="962025"/>
            <a:ext cx="8562975" cy="51517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zh-CN" sz="2200" dirty="0"/>
              <a:t> 假设你所在小组需为深圳大学志愿者联合会29届新干事，策划一场“新干事见面暨聘书颁发仪式”，需在20分钟内讨论并输出策划案大体框架，框架需包含以下核心模块（可补充细节）：</a:t>
            </a:r>
            <a:endParaRPr lang="zh-CN" altLang="zh-CN" sz="2200" dirty="0"/>
          </a:p>
          <a:p>
            <a:r>
              <a:rPr lang="zh-CN" altLang="zh-CN" sz="40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</a:t>
            </a:r>
            <a:r>
              <a:rPr lang="zh-CN" altLang="zh-CN" sz="2000" dirty="0"/>
              <a:t>基础信息规划：活动举办前要确定活动举办时间、地点，整场活动大致要控制在3小时内；我们部门将分成电控组、主持组、礼仪组、场内组，总人数为15人，需要大家给每个组别合理安排人数；</a:t>
            </a:r>
            <a:endParaRPr lang="zh-CN" altLang="zh-CN" sz="2200" dirty="0"/>
          </a:p>
          <a:p>
            <a:endParaRPr lang="zh-CN" altLang="zh-CN" sz="2200" dirty="0"/>
          </a:p>
          <a:p>
            <a:r>
              <a:rPr lang="zh-CN" altLang="zh-CN" sz="4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2.</a:t>
            </a:r>
            <a:r>
              <a:rPr lang="zh-CN" altLang="zh-CN" sz="2000" dirty="0"/>
              <a:t>核心流程设计：梳理从开场到结束的关键环节（需合理安排代表发言时间、聘书颁发、志愿者培训的核心内容，志愿者培训的部分可以自由发挥）；</a:t>
            </a:r>
            <a:endParaRPr lang="zh-CN" altLang="zh-CN" sz="2200" dirty="0"/>
          </a:p>
          <a:p>
            <a:endParaRPr lang="zh-CN" altLang="zh-CN" sz="2200" dirty="0"/>
          </a:p>
          <a:p>
            <a:r>
              <a:rPr lang="zh-CN" altLang="zh-CN" sz="4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</a:t>
            </a:r>
            <a:r>
              <a:rPr lang="zh-CN" altLang="zh-CN" sz="2000" dirty="0"/>
              <a:t>关键保障措施：列出确保活动顺利开展的2-3项重点工作（如物资准备、应急处理、人员分工等）。</a:t>
            </a:r>
            <a:endParaRPr lang="zh-CN" altLang="zh-CN" sz="2000" dirty="0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微信图片_20251010185739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t="1918" b="9139"/>
          <a:stretch>
            <a:fillRect/>
          </a:stretch>
        </p:blipFill>
        <p:spPr>
          <a:xfrm>
            <a:off x="0" y="-67310"/>
            <a:ext cx="12191365" cy="6858000"/>
          </a:xfrm>
          <a:prstGeom prst="rect">
            <a:avLst/>
          </a:prstGeom>
        </p:spPr>
      </p:pic>
      <p:sp>
        <p:nvSpPr>
          <p:cNvPr id="7" name="Rectangle 70"/>
          <p:cNvSpPr>
            <a:spLocks noChangeArrowheads="1"/>
          </p:cNvSpPr>
          <p:nvPr/>
        </p:nvSpPr>
        <p:spPr bwMode="auto">
          <a:xfrm>
            <a:off x="1568967" y="211671"/>
            <a:ext cx="24938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313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313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313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313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313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313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313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313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313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400" b="1" noProof="1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rgbClr val="4A639A"/>
                    </a:gs>
                  </a:gsLst>
                  <a:lin ang="2700000" scaled="1"/>
                </a:gra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Arial" panose="020B0604020202020204"/>
              </a:rPr>
              <a:t>规则说明</a:t>
            </a:r>
            <a:endParaRPr lang="zh-CN" altLang="en-US" sz="2400" b="1" noProof="1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rgbClr val="4A639A"/>
                  </a:gs>
                </a:gsLst>
                <a:lin ang="2700000" scaled="1"/>
              </a:gradFill>
              <a:latin typeface="Arial" panose="020B0604020202020204"/>
              <a:ea typeface="微软雅黑" panose="020B0503020204020204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" name="圆角矩形 8"/>
          <p:cNvSpPr/>
          <p:nvPr/>
        </p:nvSpPr>
        <p:spPr>
          <a:xfrm rot="2700000">
            <a:off x="958850" y="220345"/>
            <a:ext cx="505460" cy="505460"/>
          </a:xfrm>
          <a:prstGeom prst="roundRect">
            <a:avLst>
              <a:gd name="adj" fmla="val 25832"/>
            </a:avLst>
          </a:prstGeom>
          <a:gradFill flip="none" rotWithShape="0">
            <a:gsLst>
              <a:gs pos="56000">
                <a:schemeClr val="bg1"/>
              </a:gs>
              <a:gs pos="99000">
                <a:schemeClr val="bg1">
                  <a:lumMod val="75000"/>
                </a:schemeClr>
              </a:gs>
            </a:gsLst>
            <a:lin ang="13500000" scaled="1"/>
            <a:tileRect/>
          </a:gradFill>
          <a:ln>
            <a:gradFill flip="none" rotWithShape="1">
              <a:gsLst>
                <a:gs pos="1000">
                  <a:schemeClr val="bg1">
                    <a:lumMod val="85000"/>
                  </a:schemeClr>
                </a:gs>
                <a:gs pos="59000">
                  <a:schemeClr val="bg1"/>
                </a:gs>
              </a:gsLst>
              <a:lin ang="10800000" scaled="1"/>
              <a:tileRect/>
            </a:gradFill>
          </a:ln>
          <a:effectLst>
            <a:outerShdw blurRad="254000" dist="127000" dir="36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4A639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05205" y="211455"/>
            <a:ext cx="426720" cy="52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noProof="1">
                <a:solidFill>
                  <a:srgbClr val="4A639A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rPr>
              <a:t>2</a:t>
            </a:r>
            <a:endParaRPr lang="zh-CN" altLang="en-US" sz="2800" b="1" dirty="0">
              <a:solidFill>
                <a:srgbClr val="4A639A"/>
              </a:solidFill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005069" y="952918"/>
            <a:ext cx="729895" cy="808827"/>
            <a:chOff x="6986467" y="1730002"/>
            <a:chExt cx="825571" cy="914849"/>
          </a:xfrm>
        </p:grpSpPr>
        <p:sp>
          <p:nvSpPr>
            <p:cNvPr id="16" name="Freeform 5"/>
            <p:cNvSpPr/>
            <p:nvPr/>
          </p:nvSpPr>
          <p:spPr bwMode="auto">
            <a:xfrm rot="5400000">
              <a:off x="6941828" y="1774641"/>
              <a:ext cx="914849" cy="825571"/>
            </a:xfrm>
            <a:custGeom>
              <a:avLst/>
              <a:gdLst>
                <a:gd name="T0" fmla="*/ 1136760 w 2740"/>
                <a:gd name="T1" fmla="*/ 1235640 h 2446"/>
                <a:gd name="T2" fmla="*/ 1086026 w 2740"/>
                <a:gd name="T3" fmla="*/ 1286347 h 2446"/>
                <a:gd name="T4" fmla="*/ 1013624 w 2740"/>
                <a:gd name="T5" fmla="*/ 1305028 h 2446"/>
                <a:gd name="T6" fmla="*/ 431239 w 2740"/>
                <a:gd name="T7" fmla="*/ 1305028 h 2446"/>
                <a:gd name="T8" fmla="*/ 362009 w 2740"/>
                <a:gd name="T9" fmla="*/ 1286347 h 2446"/>
                <a:gd name="T10" fmla="*/ 311274 w 2740"/>
                <a:gd name="T11" fmla="*/ 1235107 h 2446"/>
                <a:gd name="T12" fmla="*/ 19025 w 2740"/>
                <a:gd name="T13" fmla="*/ 723770 h 2446"/>
                <a:gd name="T14" fmla="*/ 0 w 2740"/>
                <a:gd name="T15" fmla="*/ 652781 h 2446"/>
                <a:gd name="T16" fmla="*/ 19025 w 2740"/>
                <a:gd name="T17" fmla="*/ 581258 h 2446"/>
                <a:gd name="T18" fmla="*/ 310218 w 2740"/>
                <a:gd name="T19" fmla="*/ 72057 h 2446"/>
                <a:gd name="T20" fmla="*/ 362009 w 2740"/>
                <a:gd name="T21" fmla="*/ 19749 h 2446"/>
                <a:gd name="T22" fmla="*/ 428068 w 2740"/>
                <a:gd name="T23" fmla="*/ 534 h 2446"/>
                <a:gd name="T24" fmla="*/ 1012567 w 2740"/>
                <a:gd name="T25" fmla="*/ 534 h 2446"/>
                <a:gd name="T26" fmla="*/ 1086026 w 2740"/>
                <a:gd name="T27" fmla="*/ 19749 h 2446"/>
                <a:gd name="T28" fmla="*/ 1136760 w 2740"/>
                <a:gd name="T29" fmla="*/ 70456 h 2446"/>
                <a:gd name="T30" fmla="*/ 1427952 w 2740"/>
                <a:gd name="T31" fmla="*/ 579657 h 2446"/>
                <a:gd name="T32" fmla="*/ 1448034 w 2740"/>
                <a:gd name="T33" fmla="*/ 652781 h 2446"/>
                <a:gd name="T34" fmla="*/ 1427423 w 2740"/>
                <a:gd name="T35" fmla="*/ 726439 h 2446"/>
                <a:gd name="T36" fmla="*/ 1136760 w 2740"/>
                <a:gd name="T37" fmla="*/ 1235640 h 24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740"/>
                <a:gd name="T58" fmla="*/ 0 h 2446"/>
                <a:gd name="T59" fmla="*/ 2740 w 2740"/>
                <a:gd name="T60" fmla="*/ 2446 h 24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rgbClr val="4A639A"/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>
                <a:solidFill>
                  <a:srgbClr val="4A639A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17" name="Freeform 5"/>
            <p:cNvSpPr/>
            <p:nvPr/>
          </p:nvSpPr>
          <p:spPr bwMode="auto">
            <a:xfrm rot="5400000">
              <a:off x="7079199" y="1898606"/>
              <a:ext cx="640107" cy="577641"/>
            </a:xfrm>
            <a:custGeom>
              <a:avLst/>
              <a:gdLst>
                <a:gd name="T0" fmla="*/ 1136760 w 2740"/>
                <a:gd name="T1" fmla="*/ 1235640 h 2446"/>
                <a:gd name="T2" fmla="*/ 1086026 w 2740"/>
                <a:gd name="T3" fmla="*/ 1286347 h 2446"/>
                <a:gd name="T4" fmla="*/ 1013624 w 2740"/>
                <a:gd name="T5" fmla="*/ 1305028 h 2446"/>
                <a:gd name="T6" fmla="*/ 431239 w 2740"/>
                <a:gd name="T7" fmla="*/ 1305028 h 2446"/>
                <a:gd name="T8" fmla="*/ 362009 w 2740"/>
                <a:gd name="T9" fmla="*/ 1286347 h 2446"/>
                <a:gd name="T10" fmla="*/ 311274 w 2740"/>
                <a:gd name="T11" fmla="*/ 1235107 h 2446"/>
                <a:gd name="T12" fmla="*/ 19025 w 2740"/>
                <a:gd name="T13" fmla="*/ 723770 h 2446"/>
                <a:gd name="T14" fmla="*/ 0 w 2740"/>
                <a:gd name="T15" fmla="*/ 652781 h 2446"/>
                <a:gd name="T16" fmla="*/ 19025 w 2740"/>
                <a:gd name="T17" fmla="*/ 581258 h 2446"/>
                <a:gd name="T18" fmla="*/ 310218 w 2740"/>
                <a:gd name="T19" fmla="*/ 72057 h 2446"/>
                <a:gd name="T20" fmla="*/ 362009 w 2740"/>
                <a:gd name="T21" fmla="*/ 19749 h 2446"/>
                <a:gd name="T22" fmla="*/ 428068 w 2740"/>
                <a:gd name="T23" fmla="*/ 534 h 2446"/>
                <a:gd name="T24" fmla="*/ 1012567 w 2740"/>
                <a:gd name="T25" fmla="*/ 534 h 2446"/>
                <a:gd name="T26" fmla="*/ 1086026 w 2740"/>
                <a:gd name="T27" fmla="*/ 19749 h 2446"/>
                <a:gd name="T28" fmla="*/ 1136760 w 2740"/>
                <a:gd name="T29" fmla="*/ 70456 h 2446"/>
                <a:gd name="T30" fmla="*/ 1427952 w 2740"/>
                <a:gd name="T31" fmla="*/ 579657 h 2446"/>
                <a:gd name="T32" fmla="*/ 1448034 w 2740"/>
                <a:gd name="T33" fmla="*/ 652781 h 2446"/>
                <a:gd name="T34" fmla="*/ 1427423 w 2740"/>
                <a:gd name="T35" fmla="*/ 726439 h 2446"/>
                <a:gd name="T36" fmla="*/ 1136760 w 2740"/>
                <a:gd name="T37" fmla="*/ 1235640 h 24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740"/>
                <a:gd name="T58" fmla="*/ 0 h 2446"/>
                <a:gd name="T59" fmla="*/ 2740 w 2740"/>
                <a:gd name="T60" fmla="*/ 2446 h 24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5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</a:gradFill>
            <a:ln>
              <a:noFill/>
            </a:ln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>
                <a:solidFill>
                  <a:srgbClr val="4A639A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7020462" y="2004650"/>
              <a:ext cx="757580" cy="365553"/>
            </a:xfrm>
            <a:prstGeom prst="rect">
              <a:avLst/>
            </a:prstGeom>
            <a:noFill/>
            <a:ln>
              <a:noFill/>
            </a:ln>
            <a:effectLst>
              <a:outerShdw blurRad="152400" dist="63500" dir="2700000" sx="101000" sy="101000" algn="tl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2000" b="1" dirty="0">
                  <a:solidFill>
                    <a:srgbClr val="4A639A"/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rPr>
                <a:t>01</a:t>
              </a:r>
              <a:endParaRPr lang="zh-CN" altLang="en-US" sz="2000" b="1" dirty="0">
                <a:solidFill>
                  <a:srgbClr val="4A639A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005703" y="1840896"/>
            <a:ext cx="729895" cy="808827"/>
            <a:chOff x="6986467" y="1730002"/>
            <a:chExt cx="825571" cy="914849"/>
          </a:xfrm>
        </p:grpSpPr>
        <p:sp>
          <p:nvSpPr>
            <p:cNvPr id="6" name="Freeform 5"/>
            <p:cNvSpPr/>
            <p:nvPr/>
          </p:nvSpPr>
          <p:spPr bwMode="auto">
            <a:xfrm rot="5400000">
              <a:off x="6941828" y="1774641"/>
              <a:ext cx="914849" cy="825571"/>
            </a:xfrm>
            <a:custGeom>
              <a:avLst/>
              <a:gdLst>
                <a:gd name="T0" fmla="*/ 1136760 w 2740"/>
                <a:gd name="T1" fmla="*/ 1235640 h 2446"/>
                <a:gd name="T2" fmla="*/ 1086026 w 2740"/>
                <a:gd name="T3" fmla="*/ 1286347 h 2446"/>
                <a:gd name="T4" fmla="*/ 1013624 w 2740"/>
                <a:gd name="T5" fmla="*/ 1305028 h 2446"/>
                <a:gd name="T6" fmla="*/ 431239 w 2740"/>
                <a:gd name="T7" fmla="*/ 1305028 h 2446"/>
                <a:gd name="T8" fmla="*/ 362009 w 2740"/>
                <a:gd name="T9" fmla="*/ 1286347 h 2446"/>
                <a:gd name="T10" fmla="*/ 311274 w 2740"/>
                <a:gd name="T11" fmla="*/ 1235107 h 2446"/>
                <a:gd name="T12" fmla="*/ 19025 w 2740"/>
                <a:gd name="T13" fmla="*/ 723770 h 2446"/>
                <a:gd name="T14" fmla="*/ 0 w 2740"/>
                <a:gd name="T15" fmla="*/ 652781 h 2446"/>
                <a:gd name="T16" fmla="*/ 19025 w 2740"/>
                <a:gd name="T17" fmla="*/ 581258 h 2446"/>
                <a:gd name="T18" fmla="*/ 310218 w 2740"/>
                <a:gd name="T19" fmla="*/ 72057 h 2446"/>
                <a:gd name="T20" fmla="*/ 362009 w 2740"/>
                <a:gd name="T21" fmla="*/ 19749 h 2446"/>
                <a:gd name="T22" fmla="*/ 428068 w 2740"/>
                <a:gd name="T23" fmla="*/ 534 h 2446"/>
                <a:gd name="T24" fmla="*/ 1012567 w 2740"/>
                <a:gd name="T25" fmla="*/ 534 h 2446"/>
                <a:gd name="T26" fmla="*/ 1086026 w 2740"/>
                <a:gd name="T27" fmla="*/ 19749 h 2446"/>
                <a:gd name="T28" fmla="*/ 1136760 w 2740"/>
                <a:gd name="T29" fmla="*/ 70456 h 2446"/>
                <a:gd name="T30" fmla="*/ 1427952 w 2740"/>
                <a:gd name="T31" fmla="*/ 579657 h 2446"/>
                <a:gd name="T32" fmla="*/ 1448034 w 2740"/>
                <a:gd name="T33" fmla="*/ 652781 h 2446"/>
                <a:gd name="T34" fmla="*/ 1427423 w 2740"/>
                <a:gd name="T35" fmla="*/ 726439 h 2446"/>
                <a:gd name="T36" fmla="*/ 1136760 w 2740"/>
                <a:gd name="T37" fmla="*/ 1235640 h 24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740"/>
                <a:gd name="T58" fmla="*/ 0 h 2446"/>
                <a:gd name="T59" fmla="*/ 2740 w 2740"/>
                <a:gd name="T60" fmla="*/ 2446 h 24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rgbClr val="4A639A"/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>
                <a:solidFill>
                  <a:srgbClr val="4A639A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12" name="Freeform 5"/>
            <p:cNvSpPr/>
            <p:nvPr/>
          </p:nvSpPr>
          <p:spPr bwMode="auto">
            <a:xfrm rot="5400000">
              <a:off x="7079199" y="1898606"/>
              <a:ext cx="640107" cy="577641"/>
            </a:xfrm>
            <a:custGeom>
              <a:avLst/>
              <a:gdLst>
                <a:gd name="T0" fmla="*/ 1136760 w 2740"/>
                <a:gd name="T1" fmla="*/ 1235640 h 2446"/>
                <a:gd name="T2" fmla="*/ 1086026 w 2740"/>
                <a:gd name="T3" fmla="*/ 1286347 h 2446"/>
                <a:gd name="T4" fmla="*/ 1013624 w 2740"/>
                <a:gd name="T5" fmla="*/ 1305028 h 2446"/>
                <a:gd name="T6" fmla="*/ 431239 w 2740"/>
                <a:gd name="T7" fmla="*/ 1305028 h 2446"/>
                <a:gd name="T8" fmla="*/ 362009 w 2740"/>
                <a:gd name="T9" fmla="*/ 1286347 h 2446"/>
                <a:gd name="T10" fmla="*/ 311274 w 2740"/>
                <a:gd name="T11" fmla="*/ 1235107 h 2446"/>
                <a:gd name="T12" fmla="*/ 19025 w 2740"/>
                <a:gd name="T13" fmla="*/ 723770 h 2446"/>
                <a:gd name="T14" fmla="*/ 0 w 2740"/>
                <a:gd name="T15" fmla="*/ 652781 h 2446"/>
                <a:gd name="T16" fmla="*/ 19025 w 2740"/>
                <a:gd name="T17" fmla="*/ 581258 h 2446"/>
                <a:gd name="T18" fmla="*/ 310218 w 2740"/>
                <a:gd name="T19" fmla="*/ 72057 h 2446"/>
                <a:gd name="T20" fmla="*/ 362009 w 2740"/>
                <a:gd name="T21" fmla="*/ 19749 h 2446"/>
                <a:gd name="T22" fmla="*/ 428068 w 2740"/>
                <a:gd name="T23" fmla="*/ 534 h 2446"/>
                <a:gd name="T24" fmla="*/ 1012567 w 2740"/>
                <a:gd name="T25" fmla="*/ 534 h 2446"/>
                <a:gd name="T26" fmla="*/ 1086026 w 2740"/>
                <a:gd name="T27" fmla="*/ 19749 h 2446"/>
                <a:gd name="T28" fmla="*/ 1136760 w 2740"/>
                <a:gd name="T29" fmla="*/ 70456 h 2446"/>
                <a:gd name="T30" fmla="*/ 1427952 w 2740"/>
                <a:gd name="T31" fmla="*/ 579657 h 2446"/>
                <a:gd name="T32" fmla="*/ 1448034 w 2740"/>
                <a:gd name="T33" fmla="*/ 652781 h 2446"/>
                <a:gd name="T34" fmla="*/ 1427423 w 2740"/>
                <a:gd name="T35" fmla="*/ 726439 h 2446"/>
                <a:gd name="T36" fmla="*/ 1136760 w 2740"/>
                <a:gd name="T37" fmla="*/ 1235640 h 24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740"/>
                <a:gd name="T58" fmla="*/ 0 h 2446"/>
                <a:gd name="T59" fmla="*/ 2740 w 2740"/>
                <a:gd name="T60" fmla="*/ 2446 h 24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5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</a:gradFill>
            <a:ln>
              <a:noFill/>
            </a:ln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>
                <a:solidFill>
                  <a:srgbClr val="4A639A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020462" y="2004650"/>
              <a:ext cx="757580" cy="365553"/>
            </a:xfrm>
            <a:prstGeom prst="rect">
              <a:avLst/>
            </a:prstGeom>
            <a:noFill/>
            <a:ln>
              <a:noFill/>
            </a:ln>
            <a:effectLst>
              <a:outerShdw blurRad="152400" dist="63500" dir="2700000" sx="101000" sy="101000" algn="tl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2000" b="1" dirty="0">
                  <a:solidFill>
                    <a:srgbClr val="4A639A"/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rPr>
                <a:t>02</a:t>
              </a:r>
              <a:endParaRPr lang="zh-CN" altLang="en-US" sz="2000" b="1" dirty="0">
                <a:solidFill>
                  <a:srgbClr val="4A639A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004628" y="2689811"/>
            <a:ext cx="729895" cy="808827"/>
            <a:chOff x="6986467" y="1730002"/>
            <a:chExt cx="825571" cy="914849"/>
          </a:xfrm>
        </p:grpSpPr>
        <p:sp>
          <p:nvSpPr>
            <p:cNvPr id="19" name="Freeform 5"/>
            <p:cNvSpPr/>
            <p:nvPr/>
          </p:nvSpPr>
          <p:spPr bwMode="auto">
            <a:xfrm rot="5400000">
              <a:off x="6941828" y="1774641"/>
              <a:ext cx="914849" cy="825571"/>
            </a:xfrm>
            <a:custGeom>
              <a:avLst/>
              <a:gdLst>
                <a:gd name="T0" fmla="*/ 1136760 w 2740"/>
                <a:gd name="T1" fmla="*/ 1235640 h 2446"/>
                <a:gd name="T2" fmla="*/ 1086026 w 2740"/>
                <a:gd name="T3" fmla="*/ 1286347 h 2446"/>
                <a:gd name="T4" fmla="*/ 1013624 w 2740"/>
                <a:gd name="T5" fmla="*/ 1305028 h 2446"/>
                <a:gd name="T6" fmla="*/ 431239 w 2740"/>
                <a:gd name="T7" fmla="*/ 1305028 h 2446"/>
                <a:gd name="T8" fmla="*/ 362009 w 2740"/>
                <a:gd name="T9" fmla="*/ 1286347 h 2446"/>
                <a:gd name="T10" fmla="*/ 311274 w 2740"/>
                <a:gd name="T11" fmla="*/ 1235107 h 2446"/>
                <a:gd name="T12" fmla="*/ 19025 w 2740"/>
                <a:gd name="T13" fmla="*/ 723770 h 2446"/>
                <a:gd name="T14" fmla="*/ 0 w 2740"/>
                <a:gd name="T15" fmla="*/ 652781 h 2446"/>
                <a:gd name="T16" fmla="*/ 19025 w 2740"/>
                <a:gd name="T17" fmla="*/ 581258 h 2446"/>
                <a:gd name="T18" fmla="*/ 310218 w 2740"/>
                <a:gd name="T19" fmla="*/ 72057 h 2446"/>
                <a:gd name="T20" fmla="*/ 362009 w 2740"/>
                <a:gd name="T21" fmla="*/ 19749 h 2446"/>
                <a:gd name="T22" fmla="*/ 428068 w 2740"/>
                <a:gd name="T23" fmla="*/ 534 h 2446"/>
                <a:gd name="T24" fmla="*/ 1012567 w 2740"/>
                <a:gd name="T25" fmla="*/ 534 h 2446"/>
                <a:gd name="T26" fmla="*/ 1086026 w 2740"/>
                <a:gd name="T27" fmla="*/ 19749 h 2446"/>
                <a:gd name="T28" fmla="*/ 1136760 w 2740"/>
                <a:gd name="T29" fmla="*/ 70456 h 2446"/>
                <a:gd name="T30" fmla="*/ 1427952 w 2740"/>
                <a:gd name="T31" fmla="*/ 579657 h 2446"/>
                <a:gd name="T32" fmla="*/ 1448034 w 2740"/>
                <a:gd name="T33" fmla="*/ 652781 h 2446"/>
                <a:gd name="T34" fmla="*/ 1427423 w 2740"/>
                <a:gd name="T35" fmla="*/ 726439 h 2446"/>
                <a:gd name="T36" fmla="*/ 1136760 w 2740"/>
                <a:gd name="T37" fmla="*/ 1235640 h 24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740"/>
                <a:gd name="T58" fmla="*/ 0 h 2446"/>
                <a:gd name="T59" fmla="*/ 2740 w 2740"/>
                <a:gd name="T60" fmla="*/ 2446 h 24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rgbClr val="4A639A"/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>
                <a:solidFill>
                  <a:srgbClr val="4A639A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0" name="Freeform 5"/>
            <p:cNvSpPr/>
            <p:nvPr/>
          </p:nvSpPr>
          <p:spPr bwMode="auto">
            <a:xfrm rot="5400000">
              <a:off x="7079199" y="1898606"/>
              <a:ext cx="640107" cy="577641"/>
            </a:xfrm>
            <a:custGeom>
              <a:avLst/>
              <a:gdLst>
                <a:gd name="T0" fmla="*/ 1136760 w 2740"/>
                <a:gd name="T1" fmla="*/ 1235640 h 2446"/>
                <a:gd name="T2" fmla="*/ 1086026 w 2740"/>
                <a:gd name="T3" fmla="*/ 1286347 h 2446"/>
                <a:gd name="T4" fmla="*/ 1013624 w 2740"/>
                <a:gd name="T5" fmla="*/ 1305028 h 2446"/>
                <a:gd name="T6" fmla="*/ 431239 w 2740"/>
                <a:gd name="T7" fmla="*/ 1305028 h 2446"/>
                <a:gd name="T8" fmla="*/ 362009 w 2740"/>
                <a:gd name="T9" fmla="*/ 1286347 h 2446"/>
                <a:gd name="T10" fmla="*/ 311274 w 2740"/>
                <a:gd name="T11" fmla="*/ 1235107 h 2446"/>
                <a:gd name="T12" fmla="*/ 19025 w 2740"/>
                <a:gd name="T13" fmla="*/ 723770 h 2446"/>
                <a:gd name="T14" fmla="*/ 0 w 2740"/>
                <a:gd name="T15" fmla="*/ 652781 h 2446"/>
                <a:gd name="T16" fmla="*/ 19025 w 2740"/>
                <a:gd name="T17" fmla="*/ 581258 h 2446"/>
                <a:gd name="T18" fmla="*/ 310218 w 2740"/>
                <a:gd name="T19" fmla="*/ 72057 h 2446"/>
                <a:gd name="T20" fmla="*/ 362009 w 2740"/>
                <a:gd name="T21" fmla="*/ 19749 h 2446"/>
                <a:gd name="T22" fmla="*/ 428068 w 2740"/>
                <a:gd name="T23" fmla="*/ 534 h 2446"/>
                <a:gd name="T24" fmla="*/ 1012567 w 2740"/>
                <a:gd name="T25" fmla="*/ 534 h 2446"/>
                <a:gd name="T26" fmla="*/ 1086026 w 2740"/>
                <a:gd name="T27" fmla="*/ 19749 h 2446"/>
                <a:gd name="T28" fmla="*/ 1136760 w 2740"/>
                <a:gd name="T29" fmla="*/ 70456 h 2446"/>
                <a:gd name="T30" fmla="*/ 1427952 w 2740"/>
                <a:gd name="T31" fmla="*/ 579657 h 2446"/>
                <a:gd name="T32" fmla="*/ 1448034 w 2740"/>
                <a:gd name="T33" fmla="*/ 652781 h 2446"/>
                <a:gd name="T34" fmla="*/ 1427423 w 2740"/>
                <a:gd name="T35" fmla="*/ 726439 h 2446"/>
                <a:gd name="T36" fmla="*/ 1136760 w 2740"/>
                <a:gd name="T37" fmla="*/ 1235640 h 24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740"/>
                <a:gd name="T58" fmla="*/ 0 h 2446"/>
                <a:gd name="T59" fmla="*/ 2740 w 2740"/>
                <a:gd name="T60" fmla="*/ 2446 h 24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5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</a:gradFill>
            <a:ln>
              <a:noFill/>
            </a:ln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>
                <a:solidFill>
                  <a:srgbClr val="4A639A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7020462" y="2004650"/>
              <a:ext cx="757580" cy="365553"/>
            </a:xfrm>
            <a:prstGeom prst="rect">
              <a:avLst/>
            </a:prstGeom>
            <a:noFill/>
            <a:ln>
              <a:noFill/>
            </a:ln>
            <a:effectLst>
              <a:outerShdw blurRad="152400" dist="63500" dir="2700000" sx="101000" sy="101000" algn="tl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2000" b="1" dirty="0">
                  <a:solidFill>
                    <a:srgbClr val="4A639A"/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rPr>
                <a:t>03</a:t>
              </a:r>
              <a:endParaRPr lang="zh-CN" altLang="en-US" sz="2000" b="1" dirty="0">
                <a:solidFill>
                  <a:srgbClr val="4A639A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006108" y="3537901"/>
            <a:ext cx="729895" cy="808827"/>
            <a:chOff x="6986467" y="1730002"/>
            <a:chExt cx="825571" cy="914849"/>
          </a:xfrm>
        </p:grpSpPr>
        <p:sp>
          <p:nvSpPr>
            <p:cNvPr id="23" name="Freeform 5"/>
            <p:cNvSpPr/>
            <p:nvPr/>
          </p:nvSpPr>
          <p:spPr bwMode="auto">
            <a:xfrm rot="5400000">
              <a:off x="6941828" y="1774641"/>
              <a:ext cx="914849" cy="825571"/>
            </a:xfrm>
            <a:custGeom>
              <a:avLst/>
              <a:gdLst>
                <a:gd name="T0" fmla="*/ 1136760 w 2740"/>
                <a:gd name="T1" fmla="*/ 1235640 h 2446"/>
                <a:gd name="T2" fmla="*/ 1086026 w 2740"/>
                <a:gd name="T3" fmla="*/ 1286347 h 2446"/>
                <a:gd name="T4" fmla="*/ 1013624 w 2740"/>
                <a:gd name="T5" fmla="*/ 1305028 h 2446"/>
                <a:gd name="T6" fmla="*/ 431239 w 2740"/>
                <a:gd name="T7" fmla="*/ 1305028 h 2446"/>
                <a:gd name="T8" fmla="*/ 362009 w 2740"/>
                <a:gd name="T9" fmla="*/ 1286347 h 2446"/>
                <a:gd name="T10" fmla="*/ 311274 w 2740"/>
                <a:gd name="T11" fmla="*/ 1235107 h 2446"/>
                <a:gd name="T12" fmla="*/ 19025 w 2740"/>
                <a:gd name="T13" fmla="*/ 723770 h 2446"/>
                <a:gd name="T14" fmla="*/ 0 w 2740"/>
                <a:gd name="T15" fmla="*/ 652781 h 2446"/>
                <a:gd name="T16" fmla="*/ 19025 w 2740"/>
                <a:gd name="T17" fmla="*/ 581258 h 2446"/>
                <a:gd name="T18" fmla="*/ 310218 w 2740"/>
                <a:gd name="T19" fmla="*/ 72057 h 2446"/>
                <a:gd name="T20" fmla="*/ 362009 w 2740"/>
                <a:gd name="T21" fmla="*/ 19749 h 2446"/>
                <a:gd name="T22" fmla="*/ 428068 w 2740"/>
                <a:gd name="T23" fmla="*/ 534 h 2446"/>
                <a:gd name="T24" fmla="*/ 1012567 w 2740"/>
                <a:gd name="T25" fmla="*/ 534 h 2446"/>
                <a:gd name="T26" fmla="*/ 1086026 w 2740"/>
                <a:gd name="T27" fmla="*/ 19749 h 2446"/>
                <a:gd name="T28" fmla="*/ 1136760 w 2740"/>
                <a:gd name="T29" fmla="*/ 70456 h 2446"/>
                <a:gd name="T30" fmla="*/ 1427952 w 2740"/>
                <a:gd name="T31" fmla="*/ 579657 h 2446"/>
                <a:gd name="T32" fmla="*/ 1448034 w 2740"/>
                <a:gd name="T33" fmla="*/ 652781 h 2446"/>
                <a:gd name="T34" fmla="*/ 1427423 w 2740"/>
                <a:gd name="T35" fmla="*/ 726439 h 2446"/>
                <a:gd name="T36" fmla="*/ 1136760 w 2740"/>
                <a:gd name="T37" fmla="*/ 1235640 h 24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740"/>
                <a:gd name="T58" fmla="*/ 0 h 2446"/>
                <a:gd name="T59" fmla="*/ 2740 w 2740"/>
                <a:gd name="T60" fmla="*/ 2446 h 24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rgbClr val="4A639A"/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>
                <a:solidFill>
                  <a:srgbClr val="4A639A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4" name="Freeform 5"/>
            <p:cNvSpPr/>
            <p:nvPr/>
          </p:nvSpPr>
          <p:spPr bwMode="auto">
            <a:xfrm rot="5400000">
              <a:off x="7079199" y="1898606"/>
              <a:ext cx="640107" cy="577641"/>
            </a:xfrm>
            <a:custGeom>
              <a:avLst/>
              <a:gdLst>
                <a:gd name="T0" fmla="*/ 1136760 w 2740"/>
                <a:gd name="T1" fmla="*/ 1235640 h 2446"/>
                <a:gd name="T2" fmla="*/ 1086026 w 2740"/>
                <a:gd name="T3" fmla="*/ 1286347 h 2446"/>
                <a:gd name="T4" fmla="*/ 1013624 w 2740"/>
                <a:gd name="T5" fmla="*/ 1305028 h 2446"/>
                <a:gd name="T6" fmla="*/ 431239 w 2740"/>
                <a:gd name="T7" fmla="*/ 1305028 h 2446"/>
                <a:gd name="T8" fmla="*/ 362009 w 2740"/>
                <a:gd name="T9" fmla="*/ 1286347 h 2446"/>
                <a:gd name="T10" fmla="*/ 311274 w 2740"/>
                <a:gd name="T11" fmla="*/ 1235107 h 2446"/>
                <a:gd name="T12" fmla="*/ 19025 w 2740"/>
                <a:gd name="T13" fmla="*/ 723770 h 2446"/>
                <a:gd name="T14" fmla="*/ 0 w 2740"/>
                <a:gd name="T15" fmla="*/ 652781 h 2446"/>
                <a:gd name="T16" fmla="*/ 19025 w 2740"/>
                <a:gd name="T17" fmla="*/ 581258 h 2446"/>
                <a:gd name="T18" fmla="*/ 310218 w 2740"/>
                <a:gd name="T19" fmla="*/ 72057 h 2446"/>
                <a:gd name="T20" fmla="*/ 362009 w 2740"/>
                <a:gd name="T21" fmla="*/ 19749 h 2446"/>
                <a:gd name="T22" fmla="*/ 428068 w 2740"/>
                <a:gd name="T23" fmla="*/ 534 h 2446"/>
                <a:gd name="T24" fmla="*/ 1012567 w 2740"/>
                <a:gd name="T25" fmla="*/ 534 h 2446"/>
                <a:gd name="T26" fmla="*/ 1086026 w 2740"/>
                <a:gd name="T27" fmla="*/ 19749 h 2446"/>
                <a:gd name="T28" fmla="*/ 1136760 w 2740"/>
                <a:gd name="T29" fmla="*/ 70456 h 2446"/>
                <a:gd name="T30" fmla="*/ 1427952 w 2740"/>
                <a:gd name="T31" fmla="*/ 579657 h 2446"/>
                <a:gd name="T32" fmla="*/ 1448034 w 2740"/>
                <a:gd name="T33" fmla="*/ 652781 h 2446"/>
                <a:gd name="T34" fmla="*/ 1427423 w 2740"/>
                <a:gd name="T35" fmla="*/ 726439 h 2446"/>
                <a:gd name="T36" fmla="*/ 1136760 w 2740"/>
                <a:gd name="T37" fmla="*/ 1235640 h 24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740"/>
                <a:gd name="T58" fmla="*/ 0 h 2446"/>
                <a:gd name="T59" fmla="*/ 2740 w 2740"/>
                <a:gd name="T60" fmla="*/ 2446 h 24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5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3500000" scaled="1"/>
            </a:gradFill>
            <a:ln>
              <a:noFill/>
            </a:ln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>
                <a:solidFill>
                  <a:srgbClr val="4A639A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7020462" y="2004650"/>
              <a:ext cx="757580" cy="365553"/>
            </a:xfrm>
            <a:prstGeom prst="rect">
              <a:avLst/>
            </a:prstGeom>
            <a:noFill/>
            <a:ln>
              <a:noFill/>
            </a:ln>
            <a:effectLst>
              <a:outerShdw blurRad="152400" dist="63500" dir="2700000" sx="101000" sy="101000" algn="tl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2000" b="1" dirty="0">
                  <a:solidFill>
                    <a:srgbClr val="4A639A"/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rPr>
                <a:t>04</a:t>
              </a:r>
              <a:endParaRPr lang="zh-CN" altLang="en-US" sz="2000" b="1" dirty="0">
                <a:solidFill>
                  <a:srgbClr val="4A639A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2134870" y="2699385"/>
            <a:ext cx="80537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小组汇报时，其他小组的成员可适当记录；在汇报小组发言结束后，部长会对汇报小组进行提问认为方案中不合理或交代不清的地方，</a:t>
            </a:r>
            <a:r>
              <a:rPr lang="zh-CN" altLang="zh-CN" b="1" dirty="0"/>
              <a:t>由汇报</a:t>
            </a:r>
            <a:r>
              <a:rPr lang="zh-CN" altLang="zh-CN" b="1" dirty="0"/>
              <a:t>小组对此做出解答；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2134870" y="1882140"/>
            <a:ext cx="83400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讨论时间结束时，全员停止讨论；各组上台汇报策划结果（按照组号依次上台），</a:t>
            </a:r>
            <a:r>
              <a:rPr lang="zh-CN" altLang="zh-CN" b="1" dirty="0">
                <a:highlight>
                  <a:srgbClr val="FFFF00"/>
                </a:highlight>
              </a:rPr>
              <a:t>汇报时长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5</a:t>
            </a:r>
            <a:r>
              <a:rPr lang="zh-CN" altLang="zh-CN" b="1" dirty="0">
                <a:highlight>
                  <a:srgbClr val="FFFF00"/>
                </a:highlight>
              </a:rPr>
              <a:t>分钟</a:t>
            </a:r>
            <a:r>
              <a:rPr lang="zh-CN" altLang="zh-CN" b="1" dirty="0"/>
              <a:t>，注意把握时间；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2134870" y="1150620"/>
            <a:ext cx="81527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zh-CN" b="1" dirty="0">
                <a:sym typeface="+mn-ea"/>
              </a:rPr>
              <a:t>小组成员按照所给的策划内容（可拓展）讨论出具体方案，</a:t>
            </a:r>
            <a:r>
              <a:rPr lang="zh-CN" altLang="zh-CN" b="1" dirty="0">
                <a:highlight>
                  <a:srgbClr val="FFFF00"/>
                </a:highlight>
                <a:sym typeface="+mn-ea"/>
              </a:rPr>
              <a:t>讨论时长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20</a:t>
            </a:r>
            <a:r>
              <a:rPr lang="zh-CN" altLang="zh-CN" b="1" dirty="0">
                <a:highlight>
                  <a:srgbClr val="FFFF00"/>
                </a:highlight>
                <a:sym typeface="+mn-ea"/>
              </a:rPr>
              <a:t>分钟</a:t>
            </a:r>
            <a:r>
              <a:rPr lang="zh-CN" altLang="zh-CN" b="1" dirty="0">
                <a:sym typeface="+mn-ea"/>
              </a:rPr>
              <a:t>；</a:t>
            </a:r>
            <a:endParaRPr lang="zh-CN" altLang="zh-CN" b="1" dirty="0"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134870" y="3700145"/>
            <a:ext cx="82410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b="1" dirty="0"/>
              <a:t>每组可以对该汇报小组提出问题，</a:t>
            </a:r>
            <a:r>
              <a:rPr lang="zh-CN" altLang="zh-CN" b="1" dirty="0">
                <a:highlight>
                  <a:srgbClr val="FFFF00"/>
                </a:highlight>
              </a:rPr>
              <a:t>提问环节限时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zh-CN" altLang="zh-CN" b="1" dirty="0">
                <a:highlight>
                  <a:srgbClr val="FFFF00"/>
                </a:highlight>
              </a:rPr>
              <a:t>分钟</a:t>
            </a:r>
            <a:r>
              <a:rPr lang="zh-CN" altLang="zh-CN" b="1" dirty="0"/>
              <a:t>，请各小组把握住提问机会（组与组之间</a:t>
            </a:r>
            <a:r>
              <a:rPr lang="zh-CN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非竞争关系</a:t>
            </a:r>
            <a:r>
              <a:rPr lang="zh-CN" altLang="zh-CN" b="1" dirty="0"/>
              <a:t>，请</a:t>
            </a:r>
            <a:r>
              <a:rPr lang="zh-CN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注意言辞</a:t>
            </a:r>
            <a:r>
              <a:rPr lang="zh-CN" altLang="zh-CN" b="1" dirty="0"/>
              <a:t>）；</a:t>
            </a:r>
            <a:endParaRPr lang="zh-CN" altLang="en-US" b="1" dirty="0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24"/>
                            </p:stCondLst>
                            <p:childTnLst>
                              <p:par>
                                <p:cTn id="11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24"/>
                            </p:stCondLst>
                            <p:childTnLst>
                              <p:par>
                                <p:cTn id="19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324"/>
                            </p:stCondLst>
                            <p:childTnLst>
                              <p:par>
                                <p:cTn id="27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824"/>
                            </p:stCondLst>
                            <p:childTnLst>
                              <p:par>
                                <p:cTn id="35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微信图片_20251010185739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t="1918" b="9139"/>
          <a:stretch>
            <a:fillRect/>
          </a:stretch>
        </p:blipFill>
        <p:spPr>
          <a:xfrm>
            <a:off x="0" y="-67310"/>
            <a:ext cx="1219136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44825" y="2430780"/>
            <a:ext cx="6096000" cy="1861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5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sym typeface="+mn-ea"/>
              </a:rPr>
              <a:t>小组讨论</a:t>
            </a:r>
            <a:endParaRPr lang="zh-CN" altLang="en-US" sz="11500" b="1">
              <a:ln w="9525">
                <a:solidFill>
                  <a:schemeClr val="bg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微信图片_20251010185739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t="1918" b="9139"/>
          <a:stretch>
            <a:fillRect/>
          </a:stretch>
        </p:blipFill>
        <p:spPr>
          <a:xfrm>
            <a:off x="0" y="-67310"/>
            <a:ext cx="1219136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44825" y="2430780"/>
            <a:ext cx="6096000" cy="1861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5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sym typeface="+mn-ea"/>
              </a:rPr>
              <a:t>小组</a:t>
            </a:r>
            <a:r>
              <a:rPr lang="zh-CN" altLang="en-US" sz="115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sym typeface="+mn-ea"/>
              </a:rPr>
              <a:t>汇报</a:t>
            </a:r>
            <a:endParaRPr lang="zh-CN" altLang="en-US" sz="11500" b="1">
              <a:ln w="9525">
                <a:solidFill>
                  <a:schemeClr val="bg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微信图片_20251010185739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t="1918" b="9139"/>
          <a:stretch>
            <a:fillRect/>
          </a:stretch>
        </p:blipFill>
        <p:spPr>
          <a:xfrm>
            <a:off x="0" y="-67310"/>
            <a:ext cx="1219136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44825" y="2430780"/>
            <a:ext cx="6096000" cy="1861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5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sym typeface="+mn-ea"/>
              </a:rPr>
              <a:t>提问</a:t>
            </a:r>
            <a:r>
              <a:rPr lang="zh-CN" altLang="en-US" sz="115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sym typeface="+mn-ea"/>
              </a:rPr>
              <a:t>解答</a:t>
            </a:r>
            <a:endParaRPr lang="zh-CN" altLang="en-US" sz="11500" b="1">
              <a:ln w="9525">
                <a:solidFill>
                  <a:schemeClr val="bg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微信图片_20251010184409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t="8807" b="25953"/>
          <a:stretch>
            <a:fillRect/>
          </a:stretch>
        </p:blipFill>
        <p:spPr>
          <a:xfrm>
            <a:off x="0" y="0"/>
            <a:ext cx="12259945" cy="69354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44825" y="1567815"/>
            <a:ext cx="6096000" cy="1861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5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sym typeface="+mn-ea"/>
              </a:rPr>
              <a:t>谢谢大家</a:t>
            </a:r>
            <a:endParaRPr lang="zh-CN" altLang="en-US" sz="11500" b="1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</Words>
  <Application>WPS 演示</Application>
  <PresentationFormat>宽屏</PresentationFormat>
  <Paragraphs>37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Calibri Light</vt:lpstr>
      <vt:lpstr>Roboto Light</vt:lpstr>
      <vt:lpstr>Segoe Print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YIEYIA</cp:lastModifiedBy>
  <cp:revision>155</cp:revision>
  <dcterms:created xsi:type="dcterms:W3CDTF">2019-06-19T02:08:00Z</dcterms:created>
  <dcterms:modified xsi:type="dcterms:W3CDTF">2025-10-10T11:50:51Z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F52B9465D20544BCBC6084EBA18751BC_11</vt:lpwstr>
  </property>
</Properties>
</file>