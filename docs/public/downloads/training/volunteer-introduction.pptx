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2" r:id="rId3"/>
    <p:sldMasterId id="2147483666" r:id="rId4"/>
  </p:sldMasterIdLst>
  <p:notesMasterIdLst>
    <p:notesMasterId r:id="rId7"/>
  </p:notesMasterIdLst>
  <p:sldIdLst>
    <p:sldId id="2630" r:id="rId5"/>
    <p:sldId id="2617" r:id="rId6"/>
    <p:sldId id="2631" r:id="rId8"/>
    <p:sldId id="2648" r:id="rId9"/>
    <p:sldId id="2649" r:id="rId10"/>
    <p:sldId id="2644" r:id="rId11"/>
    <p:sldId id="2650" r:id="rId12"/>
    <p:sldId id="2651" r:id="rId13"/>
    <p:sldId id="2652" r:id="rId14"/>
    <p:sldId id="2645" r:id="rId15"/>
    <p:sldId id="2653" r:id="rId16"/>
    <p:sldId id="2654" r:id="rId17"/>
    <p:sldId id="2646" r:id="rId18"/>
    <p:sldId id="2659" r:id="rId19"/>
    <p:sldId id="2660" r:id="rId20"/>
    <p:sldId id="2661" r:id="rId21"/>
    <p:sldId id="2662" r:id="rId22"/>
    <p:sldId id="2663" r:id="rId23"/>
    <p:sldId id="2664" r:id="rId24"/>
    <p:sldId id="2691" r:id="rId25"/>
    <p:sldId id="2665" r:id="rId26"/>
    <p:sldId id="2666" r:id="rId27"/>
    <p:sldId id="2667" r:id="rId28"/>
    <p:sldId id="2668" r:id="rId29"/>
    <p:sldId id="2669" r:id="rId30"/>
    <p:sldId id="2670" r:id="rId31"/>
    <p:sldId id="2671" r:id="rId32"/>
    <p:sldId id="2672" r:id="rId33"/>
    <p:sldId id="2673" r:id="rId34"/>
    <p:sldId id="2674" r:id="rId35"/>
    <p:sldId id="2679" r:id="rId36"/>
    <p:sldId id="2680" r:id="rId37"/>
    <p:sldId id="2681" r:id="rId38"/>
    <p:sldId id="2682" r:id="rId39"/>
    <p:sldId id="2683" r:id="rId40"/>
    <p:sldId id="2684" r:id="rId41"/>
    <p:sldId id="2685" r:id="rId42"/>
    <p:sldId id="2686" r:id="rId43"/>
    <p:sldId id="2675" r:id="rId44"/>
    <p:sldId id="2676" r:id="rId45"/>
    <p:sldId id="2677" r:id="rId46"/>
    <p:sldId id="2716" r:id="rId47"/>
    <p:sldId id="2692" r:id="rId48"/>
    <p:sldId id="2642" r:id="rId49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5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E0D7"/>
    <a:srgbClr val="6C92C0"/>
    <a:srgbClr val="48A2A0"/>
    <a:srgbClr val="436B9B"/>
    <a:srgbClr val="FF6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20" y="252"/>
      </p:cViewPr>
      <p:guideLst>
        <p:guide orient="horz" pos="2325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582" y="84"/>
      </p:cViewPr>
      <p:guideLst>
        <p:guide orient="horz" pos="289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4" Type="http://schemas.openxmlformats.org/officeDocument/2006/relationships/tags" Target="tags/tag216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10804-FE04-47AA-8C0E-F2613B59AD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CBF47-3ED1-41B6-A9DB-D47E6373B2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000-9408-426B-B873-D4C066E48A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615933" y="6374445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8" Type="http://schemas.openxmlformats.org/officeDocument/2006/relationships/theme" Target="../theme/theme3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400" advClick="0" advTm="2000">
        <p:blinds/>
      </p:transition>
    </mc:Choice>
    <mc:Fallback>
      <p:transition spd="slow" advClick="0" advTm="2000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62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tags" Target="../tags/tag63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tags" Target="../tags/tag72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84.xml"/><Relationship Id="rId7" Type="http://schemas.openxmlformats.org/officeDocument/2006/relationships/image" Target="../media/image4.png"/><Relationship Id="rId6" Type="http://schemas.openxmlformats.org/officeDocument/2006/relationships/tags" Target="../tags/tag83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tags" Target="../tags/tag85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7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1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tags" Target="../tags/tag94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image" Target="../media/image7.png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16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1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23.xml"/><Relationship Id="rId7" Type="http://schemas.openxmlformats.org/officeDocument/2006/relationships/image" Target="../media/image8.png"/><Relationship Id="rId6" Type="http://schemas.openxmlformats.org/officeDocument/2006/relationships/image" Target="../media/image3.png"/><Relationship Id="rId5" Type="http://schemas.openxmlformats.org/officeDocument/2006/relationships/tags" Target="../tags/tag122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21.xml"/><Relationship Id="rId10" Type="http://schemas.openxmlformats.org/officeDocument/2006/relationships/notesSlide" Target="../notesSlides/notesSlide15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29.xml"/><Relationship Id="rId10" Type="http://schemas.openxmlformats.org/officeDocument/2006/relationships/notesSlide" Target="../notesSlides/notesSlide17.xml"/><Relationship Id="rId1" Type="http://schemas.openxmlformats.org/officeDocument/2006/relationships/tags" Target="../tags/tag12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33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3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37.xml"/><Relationship Id="rId10" Type="http://schemas.openxmlformats.org/officeDocument/2006/relationships/notesSlide" Target="../notesSlides/notesSlide19.xml"/><Relationship Id="rId1" Type="http://schemas.openxmlformats.org/officeDocument/2006/relationships/tags" Target="../tags/tag13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41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14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47.xml"/><Relationship Id="rId7" Type="http://schemas.openxmlformats.org/officeDocument/2006/relationships/image" Target="../media/image14.png"/><Relationship Id="rId6" Type="http://schemas.openxmlformats.org/officeDocument/2006/relationships/image" Target="../media/image3.png"/><Relationship Id="rId5" Type="http://schemas.openxmlformats.org/officeDocument/2006/relationships/tags" Target="../tags/tag146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45.xml"/><Relationship Id="rId10" Type="http://schemas.openxmlformats.org/officeDocument/2006/relationships/notesSlide" Target="../notesSlides/notesSlide21.xml"/><Relationship Id="rId1" Type="http://schemas.openxmlformats.org/officeDocument/2006/relationships/tags" Target="../tags/tag14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51.xml"/><Relationship Id="rId6" Type="http://schemas.openxmlformats.org/officeDocument/2006/relationships/image" Target="../media/image3.png"/><Relationship Id="rId5" Type="http://schemas.openxmlformats.org/officeDocument/2006/relationships/tags" Target="../tags/tag150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tags" Target="../tags/tag158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57.xml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5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3.png"/><Relationship Id="rId5" Type="http://schemas.openxmlformats.org/officeDocument/2006/relationships/tags" Target="../tags/tag162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61.xml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6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67.xml"/><Relationship Id="rId7" Type="http://schemas.openxmlformats.org/officeDocument/2006/relationships/image" Target="../media/image19.png"/><Relationship Id="rId6" Type="http://schemas.openxmlformats.org/officeDocument/2006/relationships/tags" Target="../tags/tag166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65.xml"/><Relationship Id="rId10" Type="http://schemas.openxmlformats.org/officeDocument/2006/relationships/notesSlide" Target="../notesSlides/notesSlide26.xml"/><Relationship Id="rId1" Type="http://schemas.openxmlformats.org/officeDocument/2006/relationships/tags" Target="../tags/tag164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71.xml"/><Relationship Id="rId7" Type="http://schemas.openxmlformats.org/officeDocument/2006/relationships/image" Target="../media/image20.png"/><Relationship Id="rId6" Type="http://schemas.openxmlformats.org/officeDocument/2006/relationships/tags" Target="../tags/tag170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69.xml"/><Relationship Id="rId10" Type="http://schemas.openxmlformats.org/officeDocument/2006/relationships/notesSlide" Target="../notesSlides/notesSlide27.xml"/><Relationship Id="rId1" Type="http://schemas.openxmlformats.org/officeDocument/2006/relationships/tags" Target="../tags/tag168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75.xml"/><Relationship Id="rId7" Type="http://schemas.openxmlformats.org/officeDocument/2006/relationships/image" Target="../media/image21.png"/><Relationship Id="rId6" Type="http://schemas.openxmlformats.org/officeDocument/2006/relationships/tags" Target="../tags/tag174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73.xml"/><Relationship Id="rId10" Type="http://schemas.openxmlformats.org/officeDocument/2006/relationships/notesSlide" Target="../notesSlides/notesSlide28.xml"/><Relationship Id="rId1" Type="http://schemas.openxmlformats.org/officeDocument/2006/relationships/tags" Target="../tags/tag17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79.xml"/><Relationship Id="rId7" Type="http://schemas.openxmlformats.org/officeDocument/2006/relationships/image" Target="../media/image22.png"/><Relationship Id="rId6" Type="http://schemas.openxmlformats.org/officeDocument/2006/relationships/tags" Target="../tags/tag178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77.xml"/><Relationship Id="rId10" Type="http://schemas.openxmlformats.org/officeDocument/2006/relationships/notesSlide" Target="../notesSlides/notesSlide29.xml"/><Relationship Id="rId1" Type="http://schemas.openxmlformats.org/officeDocument/2006/relationships/tags" Target="../tags/tag176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tags" Target="../tags/tag182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81.xml"/><Relationship Id="rId11" Type="http://schemas.openxmlformats.org/officeDocument/2006/relationships/notesSlide" Target="../notesSlides/notesSlide30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8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tags" Target="../tags/tag186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85.xml"/><Relationship Id="rId11" Type="http://schemas.openxmlformats.org/officeDocument/2006/relationships/notesSlide" Target="../notesSlides/notesSlide31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84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91.xml"/><Relationship Id="rId7" Type="http://schemas.openxmlformats.org/officeDocument/2006/relationships/image" Target="../media/image27.png"/><Relationship Id="rId6" Type="http://schemas.openxmlformats.org/officeDocument/2006/relationships/image" Target="../media/image3.png"/><Relationship Id="rId5" Type="http://schemas.openxmlformats.org/officeDocument/2006/relationships/tags" Target="../tags/tag190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89.xml"/><Relationship Id="rId10" Type="http://schemas.openxmlformats.org/officeDocument/2006/relationships/notesSlide" Target="../notesSlides/notesSlide32.xml"/><Relationship Id="rId1" Type="http://schemas.openxmlformats.org/officeDocument/2006/relationships/tags" Target="../tags/tag188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95.xml"/><Relationship Id="rId7" Type="http://schemas.openxmlformats.org/officeDocument/2006/relationships/image" Target="../media/image28.png"/><Relationship Id="rId6" Type="http://schemas.openxmlformats.org/officeDocument/2006/relationships/tags" Target="../tags/tag194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93.xml"/><Relationship Id="rId10" Type="http://schemas.openxmlformats.org/officeDocument/2006/relationships/notesSlide" Target="../notesSlides/notesSlide33.xml"/><Relationship Id="rId1" Type="http://schemas.openxmlformats.org/officeDocument/2006/relationships/tags" Target="../tags/tag19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207.xml"/><Relationship Id="rId7" Type="http://schemas.openxmlformats.org/officeDocument/2006/relationships/image" Target="../media/image29.png"/><Relationship Id="rId6" Type="http://schemas.openxmlformats.org/officeDocument/2006/relationships/tags" Target="../tags/tag206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05.xml"/><Relationship Id="rId10" Type="http://schemas.openxmlformats.org/officeDocument/2006/relationships/notesSlide" Target="../notesSlides/notesSlide36.xml"/><Relationship Id="rId1" Type="http://schemas.openxmlformats.org/officeDocument/2006/relationships/tags" Target="../tags/tag204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slideLayout" Target="../slideLayouts/slideLayout17.xml"/><Relationship Id="rId7" Type="http://schemas.openxmlformats.org/officeDocument/2006/relationships/tags" Target="../tags/tag215.xml"/><Relationship Id="rId6" Type="http://schemas.openxmlformats.org/officeDocument/2006/relationships/image" Target="../media/image3.png"/><Relationship Id="rId5" Type="http://schemas.openxmlformats.org/officeDocument/2006/relationships/tags" Target="../tags/tag214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 rot="10800000">
            <a:off x="-885900" y="3867109"/>
            <a:ext cx="3185286" cy="3512032"/>
            <a:chOff x="9664473" y="816338"/>
            <a:chExt cx="3185286" cy="3512032"/>
          </a:xfrm>
        </p:grpSpPr>
        <p:sp>
          <p:nvSpPr>
            <p:cNvPr id="28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9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26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7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14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iṡḷîďê"/>
          <p:cNvSpPr txBox="1"/>
          <p:nvPr/>
        </p:nvSpPr>
        <p:spPr>
          <a:xfrm>
            <a:off x="2035810" y="2361447"/>
            <a:ext cx="7181850" cy="10883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540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志愿者通识培训</a:t>
            </a:r>
            <a:endParaRPr lang="zh-CN" altLang="en-US" sz="5400" dirty="0">
              <a:solidFill>
                <a:srgbClr val="0070C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 descr="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  <p:grpSp>
        <p:nvGrpSpPr>
          <p:cNvPr id="7" name="ïşļidè"/>
          <p:cNvGrpSpPr/>
          <p:nvPr/>
        </p:nvGrpSpPr>
        <p:grpSpPr>
          <a:xfrm>
            <a:off x="3641238" y="4147714"/>
            <a:ext cx="4532647" cy="346061"/>
            <a:chOff x="798776" y="5501275"/>
            <a:chExt cx="3809532" cy="290853"/>
          </a:xfrm>
        </p:grpSpPr>
        <p:sp>
          <p:nvSpPr>
            <p:cNvPr id="12" name="íṥļîḍe"/>
            <p:cNvSpPr/>
            <p:nvPr/>
          </p:nvSpPr>
          <p:spPr>
            <a:xfrm>
              <a:off x="798776" y="5501275"/>
              <a:ext cx="3337197" cy="272719"/>
            </a:xfrm>
            <a:prstGeom prst="roundRect">
              <a:avLst>
                <a:gd name="adj" fmla="val 50000"/>
              </a:avLst>
            </a:prstGeom>
            <a:solidFill>
              <a:srgbClr val="6C92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dirty="0">
                  <a:cs typeface="+mn-ea"/>
                  <a:sym typeface="+mn-lt"/>
                </a:rPr>
                <a:t>志愿者</a:t>
              </a:r>
              <a:r>
                <a:rPr lang="en-US" altLang="zh-CN" sz="2000" dirty="0">
                  <a:cs typeface="+mn-ea"/>
                  <a:sym typeface="+mn-lt"/>
                </a:rPr>
                <a:t> </a:t>
              </a:r>
              <a:r>
                <a:rPr lang="zh-CN" altLang="en-US" sz="2000" dirty="0">
                  <a:cs typeface="+mn-ea"/>
                  <a:sym typeface="+mn-lt"/>
                </a:rPr>
                <a:t>事关信仰</a:t>
              </a:r>
              <a:r>
                <a:rPr lang="en-US" altLang="zh-CN" sz="2000" dirty="0">
                  <a:cs typeface="+mn-ea"/>
                  <a:sym typeface="+mn-lt"/>
                </a:rPr>
                <a:t> </a:t>
              </a:r>
              <a:r>
                <a:rPr lang="zh-CN" altLang="en-US" sz="2000" dirty="0">
                  <a:cs typeface="+mn-ea"/>
                  <a:sym typeface="+mn-lt"/>
                </a:rPr>
                <a:t>事关梦想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13" name="ïšḻíḋê"/>
            <p:cNvSpPr/>
            <p:nvPr/>
          </p:nvSpPr>
          <p:spPr>
            <a:xfrm>
              <a:off x="4317455" y="5501275"/>
              <a:ext cx="290853" cy="290853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MH_Others_1"/>
          <p:cNvSpPr txBox="1"/>
          <p:nvPr>
            <p:custDataLst>
              <p:tags r:id="rId3"/>
            </p:custDataLst>
          </p:nvPr>
        </p:nvSpPr>
        <p:spPr>
          <a:xfrm>
            <a:off x="3955647" y="435175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</a:t>
            </a:r>
            <a:r>
              <a:rPr lang="en-US" altLang="zh-CN" sz="4400" b="1" dirty="0">
                <a:solidFill>
                  <a:srgbClr val="6C92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NTENTS</a:t>
            </a:r>
            <a:endParaRPr lang="zh-CN" altLang="en-US" sz="4400" b="1" dirty="0">
              <a:solidFill>
                <a:srgbClr val="6C92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1090295"/>
            <a:ext cx="5082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61085" y="1811020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什么是志愿者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1085" y="3032125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3600" b="1">
                <a:solidFill>
                  <a:srgbClr val="0070C0"/>
                </a:solidFill>
              </a:rPr>
              <a:t>什么是志愿者联合会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61085" y="4272280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志愿者注册指南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1085" y="5385435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志愿者要求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55155" y="1813560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0070C0"/>
                </a:solidFill>
              </a:rPr>
              <a:t>穿着志愿</a:t>
            </a:r>
            <a:r>
              <a:rPr lang="zh-CN" altLang="en-US" sz="2800" b="1">
                <a:solidFill>
                  <a:srgbClr val="0070C0"/>
                </a:solidFill>
              </a:rPr>
              <a:t>者服的注意事项</a:t>
            </a:r>
            <a:endParaRPr lang="zh-CN" altLang="en-US" sz="2800" b="1">
              <a:solidFill>
                <a:srgbClr val="0070C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955155" y="3042920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3600" b="1">
                <a:solidFill>
                  <a:srgbClr val="0070C0"/>
                </a:solidFill>
              </a:rPr>
              <a:t>如何查看志愿时长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955155" y="4272280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solidFill>
                  <a:srgbClr val="0070C0"/>
                </a:solidFill>
              </a:rPr>
              <a:t>如何申请《</a:t>
            </a:r>
            <a:r>
              <a:rPr lang="zh-CN" altLang="en-US" sz="2400" b="1">
                <a:solidFill>
                  <a:srgbClr val="0070C0"/>
                </a:solidFill>
              </a:rPr>
              <a:t>志愿时服务认证表》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955155" y="5385435"/>
            <a:ext cx="4320000" cy="72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志愿者能获得什么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25425" y="1821180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01</a:t>
            </a:r>
            <a:endParaRPr lang="en-US" altLang="zh-CN" sz="2400" b="1"/>
          </a:p>
        </p:txBody>
      </p:sp>
      <p:sp>
        <p:nvSpPr>
          <p:cNvPr id="41" name="椭圆 40"/>
          <p:cNvSpPr/>
          <p:nvPr/>
        </p:nvSpPr>
        <p:spPr>
          <a:xfrm>
            <a:off x="225425" y="3021330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02</a:t>
            </a:r>
            <a:endParaRPr lang="en-US" altLang="zh-CN" sz="2400" b="1"/>
          </a:p>
        </p:txBody>
      </p:sp>
      <p:sp>
        <p:nvSpPr>
          <p:cNvPr id="42" name="椭圆 41"/>
          <p:cNvSpPr/>
          <p:nvPr/>
        </p:nvSpPr>
        <p:spPr>
          <a:xfrm>
            <a:off x="225425" y="4261485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03</a:t>
            </a:r>
            <a:endParaRPr lang="en-US" altLang="zh-CN" sz="2400" b="1"/>
          </a:p>
        </p:txBody>
      </p:sp>
      <p:sp>
        <p:nvSpPr>
          <p:cNvPr id="43" name="椭圆 42"/>
          <p:cNvSpPr/>
          <p:nvPr/>
        </p:nvSpPr>
        <p:spPr>
          <a:xfrm>
            <a:off x="225425" y="5385435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04</a:t>
            </a:r>
            <a:endParaRPr lang="en-US" altLang="zh-CN" sz="2400" b="1"/>
          </a:p>
        </p:txBody>
      </p:sp>
      <p:sp>
        <p:nvSpPr>
          <p:cNvPr id="44" name="椭圆 43"/>
          <p:cNvSpPr/>
          <p:nvPr/>
        </p:nvSpPr>
        <p:spPr>
          <a:xfrm>
            <a:off x="6062980" y="1791970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05</a:t>
            </a:r>
            <a:endParaRPr lang="en-US" altLang="zh-CN" sz="2400" b="1"/>
          </a:p>
        </p:txBody>
      </p:sp>
      <p:sp>
        <p:nvSpPr>
          <p:cNvPr id="45" name="椭圆 44"/>
          <p:cNvSpPr/>
          <p:nvPr/>
        </p:nvSpPr>
        <p:spPr>
          <a:xfrm>
            <a:off x="6062980" y="3032125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06</a:t>
            </a:r>
            <a:endParaRPr lang="en-US" altLang="zh-CN" sz="2400" b="1"/>
          </a:p>
        </p:txBody>
      </p:sp>
      <p:sp>
        <p:nvSpPr>
          <p:cNvPr id="46" name="椭圆 45"/>
          <p:cNvSpPr/>
          <p:nvPr/>
        </p:nvSpPr>
        <p:spPr>
          <a:xfrm>
            <a:off x="6062980" y="4272280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07</a:t>
            </a:r>
            <a:endParaRPr lang="en-US" altLang="zh-CN" sz="2400" b="1"/>
          </a:p>
        </p:txBody>
      </p:sp>
      <p:sp>
        <p:nvSpPr>
          <p:cNvPr id="47" name="椭圆 46"/>
          <p:cNvSpPr/>
          <p:nvPr/>
        </p:nvSpPr>
        <p:spPr>
          <a:xfrm>
            <a:off x="6062980" y="5374640"/>
            <a:ext cx="709930" cy="7308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08</a:t>
            </a:r>
            <a:endParaRPr lang="en-US" altLang="zh-CN" sz="2400" b="1"/>
          </a:p>
        </p:txBody>
      </p:sp>
      <p:pic>
        <p:nvPicPr>
          <p:cNvPr id="48" name="图片 47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925" y="70485"/>
            <a:ext cx="1743075" cy="17430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45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53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3"/>
            </p:custDataLst>
          </p:nvPr>
        </p:nvSpPr>
        <p:spPr>
          <a:xfrm>
            <a:off x="1365369" y="292284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01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807716" y="3014426"/>
            <a:ext cx="4084320" cy="8299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4800" b="1" spc="300" dirty="0">
                <a:solidFill>
                  <a:srgbClr val="0070C0"/>
                </a:solidFill>
                <a:cs typeface="+mn-ea"/>
                <a:sym typeface="+mn-lt"/>
              </a:rPr>
              <a:t>什么是志愿者</a:t>
            </a:r>
            <a:endParaRPr lang="zh-CN" altLang="en-US" sz="4800" b="1" spc="3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4" name="图片 3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37" grpId="0" animBg="1"/>
      <p:bldP spid="36" grpId="0" animBg="1"/>
      <p:bldP spid="3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45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9985" y="757555"/>
            <a:ext cx="8364220" cy="4384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志愿者是指基于社会责任及义务，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自愿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贡献自己的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时间、精力、技能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为了社会的改善和发展，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无偿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参与社会服务的人员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/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志愿服务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是任何人自愿贡献时间和精力，在不为物质报酬的前提下为推动社会福利事业发展、人类发展和社会进步而提供的服务。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126740" y="6365240"/>
            <a:ext cx="3940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腾讯字体" panose="02010600010101010101" charset="-122"/>
                <a:ea typeface="腾讯字体" panose="02010600010101010101" charset="-122"/>
                <a:cs typeface="腾讯字体" panose="02010600010101010101" charset="-122"/>
                <a:sym typeface="+mn-ea"/>
              </a:rPr>
              <a:t>            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腾讯字体" panose="02010600010101010101" charset="-122"/>
                <a:ea typeface="腾讯字体" panose="02010600010101010101" charset="-122"/>
                <a:cs typeface="腾讯字体" panose="02010600010101010101" charset="-122"/>
                <a:sym typeface="+mn-ea"/>
              </a:rPr>
              <a:t>什么是志愿者</a:t>
            </a:r>
            <a:endParaRPr lang="zh-CN" dirty="0">
              <a:solidFill>
                <a:schemeClr val="tx1">
                  <a:lumMod val="65000"/>
                  <a:lumOff val="35000"/>
                </a:schemeClr>
              </a:solidFill>
              <a:latin typeface="腾讯字体" panose="02010600010101010101" charset="-122"/>
              <a:ea typeface="腾讯字体" panose="02010600010101010101" charset="-122"/>
              <a:cs typeface="腾讯字体" panose="02010600010101010101" charset="-122"/>
            </a:endParaRPr>
          </a:p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45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16585" y="500380"/>
            <a:ext cx="1286510" cy="5216525"/>
          </a:xfrm>
          <a:prstGeom prst="roundRect">
            <a:avLst/>
          </a:prstGeom>
          <a:solidFill>
            <a:srgbClr val="ADE0D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志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愿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者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的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四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大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特</a:t>
            </a:r>
            <a:endParaRPr lang="zh-CN" altLang="en-US" sz="4000" b="1">
              <a:solidFill>
                <a:srgbClr val="0070C0"/>
              </a:solidFill>
            </a:endParaRPr>
          </a:p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征</a:t>
            </a:r>
            <a:endParaRPr lang="zh-CN" altLang="en-US" sz="4000" b="1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7925" y="1199515"/>
            <a:ext cx="6862445" cy="3967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自愿性（人人可为、人人能为）</a:t>
            </a:r>
            <a:endParaRPr lang="zh-CN" altLang="en-US" sz="36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公益性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（服务社会公益，力所能及奉献自己）</a:t>
            </a:r>
            <a:endParaRPr lang="zh-CN" altLang="en-US" sz="36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en-US" altLang="zh-CN" sz="3600" b="1">
                <a:solidFill>
                  <a:srgbClr val="404040"/>
                </a:solidFill>
                <a:sym typeface="+mn-ea"/>
              </a:rPr>
              <a:t> </a:t>
            </a:r>
            <a:r>
              <a:rPr lang="zh-CN" altLang="en-US" sz="3600" b="1">
                <a:solidFill>
                  <a:srgbClr val="404040"/>
                </a:solidFill>
                <a:sym typeface="+mn-ea"/>
              </a:rPr>
              <a:t>无偿性（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不图物质报酬）</a:t>
            </a:r>
            <a:endParaRPr lang="zh-CN" altLang="en-US" sz="3600" b="1">
              <a:solidFill>
                <a:srgbClr val="404040"/>
              </a:solidFill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en-US" altLang="zh-CN" sz="3600" b="1">
                <a:solidFill>
                  <a:srgbClr val="404040"/>
                </a:solidFill>
                <a:sym typeface="+mn-ea"/>
              </a:rPr>
              <a:t> </a:t>
            </a:r>
            <a:r>
              <a:rPr lang="zh-CN" altLang="en-US" sz="3600" b="1">
                <a:solidFill>
                  <a:srgbClr val="404040"/>
                </a:solidFill>
                <a:sym typeface="+mn-ea"/>
              </a:rPr>
              <a:t>组织性（由志愿者组织管理）</a:t>
            </a:r>
            <a:endParaRPr lang="zh-CN" altLang="en-US" sz="3600" b="1">
              <a:solidFill>
                <a:srgbClr val="404040"/>
              </a:solidFill>
              <a:sym typeface="+mn-ea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754120" y="6395720"/>
            <a:ext cx="288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腾讯字体" panose="02010600010101010101" charset="-122"/>
                <a:ea typeface="腾讯字体" panose="02010600010101010101" charset="-122"/>
                <a:cs typeface="腾讯字体" panose="02010600010101010101" charset="-122"/>
                <a:sym typeface="+mn-ea"/>
              </a:rPr>
              <a:t>     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腾讯字体" panose="02010600010101010101" charset="-122"/>
                <a:ea typeface="腾讯字体" panose="02010600010101010101" charset="-122"/>
                <a:cs typeface="腾讯字体" panose="02010600010101010101" charset="-122"/>
                <a:sym typeface="+mn-ea"/>
              </a:rPr>
              <a:t>什么是志愿者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23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39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3"/>
            </p:custDataLst>
          </p:nvPr>
        </p:nvSpPr>
        <p:spPr>
          <a:xfrm>
            <a:off x="1365369" y="292284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02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807716" y="3014426"/>
            <a:ext cx="5577840" cy="7683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4400" b="1" spc="300" dirty="0">
                <a:solidFill>
                  <a:srgbClr val="0070C0"/>
                </a:solidFill>
                <a:cs typeface="+mn-ea"/>
                <a:sym typeface="+mn-lt"/>
              </a:rPr>
              <a:t>什么是志愿者联合会</a:t>
            </a:r>
            <a:endParaRPr lang="zh-CN" altLang="en-US" sz="4400" b="1" spc="3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4" name="图片 3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7" grpId="0" animBg="1"/>
      <p:bldP spid="36" grpId="0" animBg="1"/>
      <p:bldP spid="33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590290" y="6353810"/>
            <a:ext cx="3940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什么是志愿者联合会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9075" y="706120"/>
            <a:ext cx="8086725" cy="497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/>
              <a:t>志愿者联合会‌是一种</a:t>
            </a:r>
            <a:r>
              <a:rPr lang="zh-CN" altLang="en-US" sz="2400">
                <a:solidFill>
                  <a:schemeClr val="tx1"/>
                </a:solidFill>
              </a:rPr>
              <a:t>非营利性</a:t>
            </a:r>
            <a:r>
              <a:rPr lang="zh-CN" altLang="en-US" sz="2400"/>
              <a:t>社会组织，由‌志愿服务组织、志愿者以及相关单位、组织和个人自愿结成。</a:t>
            </a:r>
            <a:endParaRPr lang="zh-CN" altLang="en-US" sz="2400"/>
          </a:p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/>
              <a:t>志愿者联合会的宗旨通常包括弘扬志愿精神、培育志愿文化、推动志愿服务事业的发展等。</a:t>
            </a:r>
            <a:endParaRPr lang="zh-CN" altLang="en-US" sz="2400"/>
          </a:p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/>
              <a:t>志愿者联合会的主要活动包括组织志愿服务活动、培训志愿者、表彰优秀志愿者等。</a:t>
            </a:r>
            <a:endParaRPr lang="zh-CN" altLang="en-US" sz="2400"/>
          </a:p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/>
              <a:t>志愿者联合会对社会有着积极的影响，它们通过组织志愿服务活动，弘扬志愿精神，推动社会文明进步。</a:t>
            </a:r>
            <a:endParaRPr lang="zh-CN" altLang="en-US" sz="2400"/>
          </a:p>
        </p:txBody>
      </p:sp>
    </p:spTree>
    <p:custDataLst>
      <p:tags r:id="rId7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480" y="414782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423920" y="6426200"/>
            <a:ext cx="336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sym typeface="+mn-ea"/>
              </a:rPr>
              <a:t>      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什么是志愿者联合会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70535" y="376555"/>
            <a:ext cx="1728470" cy="5525135"/>
          </a:xfrm>
          <a:prstGeom prst="roundRect">
            <a:avLst/>
          </a:prstGeom>
          <a:solidFill>
            <a:srgbClr val="ADE0D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深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圳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大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学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志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愿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者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联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合</a:t>
            </a:r>
            <a:endParaRPr lang="zh-CN" altLang="en-US" sz="3600" b="1">
              <a:solidFill>
                <a:srgbClr val="0070C0"/>
              </a:solidFill>
            </a:endParaRPr>
          </a:p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会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35250" y="386715"/>
            <a:ext cx="7056755" cy="4300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400"/>
              <a:t>深圳大学志愿者联合会下设：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五大职能部门，</a:t>
            </a:r>
            <a:r>
              <a:rPr lang="en-US" altLang="zh-CN" sz="2400"/>
              <a:t>U</a:t>
            </a:r>
            <a:r>
              <a:rPr lang="zh-CN" altLang="en-US" sz="2400"/>
              <a:t>站，三大分会，丽湖</a:t>
            </a:r>
            <a:r>
              <a:rPr lang="zh-CN" altLang="en-US" sz="2400"/>
              <a:t>分会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五大职能部门包括：宣传部、办公室、人力资源部、项目部、培训部。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三大分会包括：助学分会、助老分会、助童分会。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其中，助学分会包括：会长助理团、组织部、秘书部、外联编辑部、萤火虫部；助童分会包括：组织部、宣传部、秘书部、文娱部；助老分会包括：组织部、宣传部、办公室、外联部、拓展部。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丽湖分会</a:t>
            </a:r>
            <a:r>
              <a:rPr lang="zh-CN" altLang="en-US" sz="2400"/>
              <a:t>包括：办公室、项目部、培训部、人力资源部、宣传部、助学</a:t>
            </a:r>
            <a:r>
              <a:rPr lang="zh-CN" altLang="en-US" sz="2400"/>
              <a:t>分部。</a:t>
            </a:r>
            <a:endParaRPr lang="zh-CN" altLang="en-US" sz="2400"/>
          </a:p>
        </p:txBody>
      </p:sp>
    </p:spTree>
    <p:custDataLst>
      <p:tags r:id="rId7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414782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084195" y="6426200"/>
            <a:ext cx="329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仿宋" panose="02010609060101010101" charset="-122"/>
                <a:ea typeface="仿宋" panose="02010609060101010101" charset="-122"/>
                <a:sym typeface="+mn-ea"/>
              </a:rPr>
              <a:t>      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什么是志愿者联合会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23290" y="510540"/>
            <a:ext cx="944181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/>
              <a:t>在此之前，你知道深圳大学志愿者联合会有这么多分会、部门吗？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知道了有这些分会、部门之后，你知道它们的职能是什么吗？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在想了解它们具体的职能之后，你知道你能通过什么途径去了解吗？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如果有对志联不熟悉的人询问你某部门的职能是什么，你会怎样去回答他？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en-US" altLang="zh-CN" sz="2000"/>
              <a:t>.......</a:t>
            </a:r>
            <a:endParaRPr lang="zh-CN" altLang="en-US" sz="2000"/>
          </a:p>
          <a:p>
            <a:pPr>
              <a:lnSpc>
                <a:spcPct val="110000"/>
              </a:lnSpc>
            </a:pP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一切的问题其实早就有了答案，关注这个公众号你就能找寻到。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2867025" y="3298825"/>
            <a:ext cx="8458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深</a:t>
            </a:r>
            <a:endParaRPr lang="zh-CN" altLang="en-US"/>
          </a:p>
          <a:p>
            <a:r>
              <a:rPr lang="zh-CN" altLang="en-US"/>
              <a:t>圳</a:t>
            </a:r>
            <a:endParaRPr lang="zh-CN" altLang="en-US"/>
          </a:p>
          <a:p>
            <a:r>
              <a:rPr lang="zh-CN" altLang="en-US"/>
              <a:t>大</a:t>
            </a:r>
            <a:endParaRPr lang="zh-CN" altLang="en-US"/>
          </a:p>
          <a:p>
            <a:r>
              <a:rPr lang="zh-CN" altLang="en-US"/>
              <a:t>学</a:t>
            </a:r>
            <a:endParaRPr lang="zh-CN" altLang="en-US"/>
          </a:p>
          <a:p>
            <a:r>
              <a:rPr lang="zh-CN" altLang="en-US"/>
              <a:t>志</a:t>
            </a:r>
            <a:endParaRPr lang="zh-CN" altLang="en-US"/>
          </a:p>
          <a:p>
            <a:r>
              <a:rPr lang="zh-CN" altLang="en-US"/>
              <a:t>愿</a:t>
            </a:r>
            <a:endParaRPr lang="zh-CN" altLang="en-US"/>
          </a:p>
          <a:p>
            <a:r>
              <a:rPr lang="zh-CN" altLang="en-US"/>
              <a:t>者</a:t>
            </a:r>
            <a:endParaRPr lang="zh-CN" altLang="en-US"/>
          </a:p>
          <a:p>
            <a:r>
              <a:rPr lang="zh-CN" altLang="en-US"/>
              <a:t>联</a:t>
            </a:r>
            <a:endParaRPr lang="zh-CN" altLang="en-US"/>
          </a:p>
          <a:p>
            <a:r>
              <a:rPr lang="zh-CN" altLang="en-US"/>
              <a:t>合</a:t>
            </a:r>
            <a:endParaRPr lang="zh-CN" altLang="en-US"/>
          </a:p>
          <a:p>
            <a:r>
              <a:rPr lang="zh-CN" altLang="en-US"/>
              <a:t>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4450" y="3255010"/>
            <a:ext cx="4483100" cy="302641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23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39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3"/>
            </p:custDataLst>
          </p:nvPr>
        </p:nvSpPr>
        <p:spPr>
          <a:xfrm>
            <a:off x="1365369" y="292284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03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807585" y="3014345"/>
            <a:ext cx="4279265" cy="7067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4000" b="1" spc="300" dirty="0">
                <a:solidFill>
                  <a:srgbClr val="0070C0"/>
                </a:solidFill>
                <a:cs typeface="+mn-ea"/>
                <a:sym typeface="+mn-lt"/>
              </a:rPr>
              <a:t>志愿者注册指南</a:t>
            </a:r>
            <a:endParaRPr lang="zh-CN" altLang="en-US" sz="4000" b="1" spc="3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4" name="图片 3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315" y="4147820"/>
            <a:ext cx="2710180" cy="2710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7" grpId="0" animBg="1"/>
      <p:bldP spid="36" grpId="0" animBg="1"/>
      <p:bldP spid="33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4" name="图片 3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4147820"/>
            <a:ext cx="2710180" cy="2710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6160" y="726440"/>
            <a:ext cx="8446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第一步：打开浏览器搜索【志愿深圳】或输入网址</a:t>
            </a:r>
            <a:r>
              <a:rPr lang="zh-CN" altLang="en-US" b="1" dirty="0">
                <a:solidFill>
                  <a:srgbClr val="404040"/>
                </a:solidFill>
                <a:sym typeface="+mn-ea"/>
              </a:rPr>
              <a:t>https://v.sva.org.cn/SZWSLDPC/#/</a:t>
            </a:r>
            <a:r>
              <a:rPr lang="zh-CN" altLang="en-US"/>
              <a:t>进入志愿深圳官网，点击注册成为志愿者。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" y="1369060"/>
            <a:ext cx="11332210" cy="29533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506460" y="1732915"/>
            <a:ext cx="1203960" cy="3517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310255" y="6384925"/>
            <a:ext cx="330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  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志愿者注册指南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4230370"/>
            <a:ext cx="2710180" cy="2710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8710" y="603250"/>
            <a:ext cx="5967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第二步：根据个人信息填写对应注册项目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15" y="977265"/>
            <a:ext cx="9790430" cy="3657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23060" y="4893310"/>
            <a:ext cx="76644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注意：① 主组织：深圳市义工联 \ 市团体会员组织 \ 高校义工组织 \ 深圳大学</a:t>
            </a:r>
            <a:r>
              <a:rPr lang="zh-CN" altLang="en-US"/>
              <a:t>志愿者联合会 \ 所在学院名称</a:t>
            </a:r>
            <a:endParaRPr lang="zh-CN" altLang="en-US"/>
          </a:p>
          <a:p>
            <a:r>
              <a:rPr lang="zh-CN" altLang="en-US"/>
              <a:t>②  地址填写主要用于快递</a:t>
            </a:r>
            <a:r>
              <a:rPr lang="zh-CN" altLang="en-US"/>
              <a:t>志愿者服、证书等，请根据个人实际情况填写。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第三步：个人信息填写完成，点击底部【注册】即可成功注册。</a:t>
            </a:r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671570" y="6353810"/>
            <a:ext cx="2253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志愿者注册指南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23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39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3"/>
            </p:custDataLst>
          </p:nvPr>
        </p:nvSpPr>
        <p:spPr>
          <a:xfrm>
            <a:off x="1365369" y="290760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04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5" name="图片 4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4230370"/>
            <a:ext cx="2710180" cy="2710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78400" y="2907665"/>
            <a:ext cx="3703955" cy="6362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solidFill>
                  <a:srgbClr val="0070C0"/>
                </a:solidFill>
              </a:rPr>
              <a:t>志愿者要求</a:t>
            </a:r>
            <a:endParaRPr lang="zh-CN" altLang="en-US" sz="4000" b="1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7" grpId="0" animBg="1"/>
      <p:bldP spid="36" grpId="0" animBg="1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13225" y="6405880"/>
            <a:ext cx="1810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志愿者要求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995" y="541020"/>
            <a:ext cx="4218305" cy="460375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志愿者活动开始前：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8995" y="1426210"/>
            <a:ext cx="766381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志愿者需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提前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到达服务地点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找到组长，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签到，领志愿者服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、穿好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志愿者服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按领队要求了解自己的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岗位要求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不得迟到早退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，须服从安排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236720" y="6353810"/>
            <a:ext cx="208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志愿者要求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57275" y="356235"/>
            <a:ext cx="3312795" cy="460375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志愿者活动进行过程中：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3145" y="977265"/>
            <a:ext cx="7552055" cy="456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熟悉自己服务的内容，了解整个活动负责的范围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熟悉现场功能分布，比如厕所、会议室等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任何时候都不要随便说“不知道”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服务中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不得擅自离岗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缺岗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串岗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、相互闲聊及大声谈笑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服务中不得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长时间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使用手机和接打电话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服务中手机调至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震动或静音状态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服务中和非服务中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注意个人形象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，非服务时尽量脱下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志愿者服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服务中有不能处理的事情先向领队汇报，遇到误解、无理要求或不公正对待时，应保持冷静，及时向领队汇报</a:t>
            </a:r>
            <a:endParaRPr lang="en-US" altLang="zh-CN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其他人要求你离开岗位时，要先告知领队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18635" y="6353810"/>
            <a:ext cx="2273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志愿者要求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2695" y="294640"/>
            <a:ext cx="2973070" cy="460375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志愿者活动结束后：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2695" y="1466215"/>
            <a:ext cx="45478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志愿者需找到组长签退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叠好、归还</a:t>
            </a: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志愿者服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整理、清点活动剩余物资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检查好个人物品，防止遗漏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6"/>
            </p:custDataLst>
          </p:nvPr>
        </p:nvSpPr>
        <p:spPr>
          <a:xfrm>
            <a:off x="1365369" y="290760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05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15535" y="3037840"/>
            <a:ext cx="4236720" cy="71755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0070C0"/>
                </a:solidFill>
              </a:rPr>
              <a:t>穿着志愿</a:t>
            </a:r>
            <a:r>
              <a:rPr lang="zh-CN" altLang="en-US" sz="2800" b="1">
                <a:solidFill>
                  <a:srgbClr val="0070C0"/>
                </a:solidFill>
              </a:rPr>
              <a:t>者服的注意事项</a:t>
            </a:r>
            <a:endParaRPr lang="zh-CN" altLang="en-US" sz="2800" b="1">
              <a:solidFill>
                <a:srgbClr val="0070C0"/>
              </a:solidFill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547110" y="6353810"/>
            <a:ext cx="3518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穿着志愿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者服的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注意事项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54175" y="777875"/>
            <a:ext cx="711898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ym typeface="+mn-ea"/>
              </a:rPr>
              <a:t>穿着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不允许过于随意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暴露</a:t>
            </a:r>
            <a:endParaRPr lang="zh-CN" altLang="en-US" sz="2000">
              <a:solidFill>
                <a:srgbClr val="404040"/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04040"/>
                </a:solidFill>
                <a:sym typeface="+mn-ea"/>
              </a:rPr>
              <a:t>不允许穿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（膝盖以上的）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裙子、穿短裤、穿拖鞋、穿洞洞鞋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(除下雨天)</a:t>
            </a:r>
            <a:endParaRPr lang="zh-CN" altLang="en-US" sz="2000">
              <a:solidFill>
                <a:srgbClr val="404040"/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04040"/>
                </a:solidFill>
                <a:sym typeface="+mn-ea"/>
              </a:rPr>
              <a:t>男生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不带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饰品，女生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少带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饰品</a:t>
            </a:r>
            <a:endParaRPr lang="zh-CN" altLang="en-US" sz="2000">
              <a:solidFill>
                <a:srgbClr val="404040"/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04040"/>
                </a:solidFill>
                <a:sym typeface="+mn-ea"/>
              </a:rPr>
              <a:t>女生不能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披肩散发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，长头发需要绑起来；</a:t>
            </a:r>
            <a:endParaRPr lang="zh-CN" altLang="en-US" sz="2000">
              <a:solidFill>
                <a:srgbClr val="404040"/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04040"/>
                </a:solidFill>
                <a:sym typeface="+mn-ea"/>
              </a:rPr>
              <a:t>注意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文明用语</a:t>
            </a:r>
            <a:r>
              <a:rPr lang="zh-CN" altLang="en-US" sz="2000">
                <a:solidFill>
                  <a:srgbClr val="404040"/>
                </a:solidFill>
                <a:sym typeface="+mn-ea"/>
              </a:rPr>
              <a:t>；</a:t>
            </a:r>
            <a:r>
              <a:rPr lang="zh-CN" alt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禁忌四语：蔑视语、烦燥语、否定语、斗气语，打招呼要看人注意手势和笑容，切忌高声叫喊</a:t>
            </a:r>
            <a:endParaRPr lang="zh-CN" altLang="en-US" sz="2000">
              <a:solidFill>
                <a:srgbClr val="404040"/>
              </a:solidFill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04040"/>
                </a:solidFill>
                <a:sym typeface="+mn-ea"/>
              </a:rPr>
              <a:t>有其他特殊要求会在志愿者招募过程中说明（例如：艺术展的全黑+长裤)</a:t>
            </a:r>
            <a:endParaRPr lang="zh-CN" altLang="en-US" sz="2000">
              <a:solidFill>
                <a:srgbClr val="404040"/>
              </a:solidFill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061460" y="6395720"/>
            <a:ext cx="2716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穿着志愿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者服的注意事项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18920" y="487680"/>
            <a:ext cx="773620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志愿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者服的扣子必须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全扣上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（若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志愿服是拉链式则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拉到如图所示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）</a:t>
            </a:r>
            <a:endParaRPr lang="zh-CN" altLang="en-US" sz="2000" dirty="0">
              <a:solidFill>
                <a:srgbClr val="404040"/>
              </a:solidFill>
            </a:endParaRPr>
          </a:p>
          <a:p>
            <a:pPr marL="285750" indent="-28575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工作结束后必须脱下志愿者服；志愿者脱下志愿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者服后，需要将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志愿服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折叠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好并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归还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至组长处</a:t>
            </a:r>
            <a:endParaRPr lang="zh-CN" altLang="en-US" sz="2000" dirty="0">
              <a:solidFill>
                <a:srgbClr val="404040"/>
              </a:solidFill>
            </a:endParaRPr>
          </a:p>
          <a:p>
            <a:pPr marL="285750" indent="-28575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工作时间不允许吃东西、喝有色饮料</a:t>
            </a:r>
            <a:r>
              <a:rPr lang="en-US" altLang="zh-CN" sz="2000" dirty="0">
                <a:solidFill>
                  <a:srgbClr val="404040"/>
                </a:solidFill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effectLst/>
                <a:sym typeface="+mn-ea"/>
              </a:rPr>
              <a:t>矿泉水可以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）、嬉戏打闹、玩手机等</a:t>
            </a:r>
            <a:endParaRPr lang="zh-CN" altLang="en-US" sz="2000" dirty="0">
              <a:solidFill>
                <a:srgbClr val="404040"/>
              </a:solidFill>
            </a:endParaRPr>
          </a:p>
          <a:p>
            <a:pPr marL="285750" indent="-285750" fontAlgn="auto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不允许穿着志愿者服出入洗手间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如有该方面需求，应与组长说明情况并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脱下志愿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者服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后再前往洗手间</a:t>
            </a:r>
            <a:endParaRPr lang="zh-CN" altLang="en-US" sz="2000" dirty="0">
              <a:solidFill>
                <a:srgbClr val="40404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12315" y="4025900"/>
            <a:ext cx="2393950" cy="2113915"/>
          </a:xfrm>
          <a:prstGeom prst="rect">
            <a:avLst/>
          </a:prstGeom>
        </p:spPr>
      </p:pic>
      <p:sp>
        <p:nvSpPr>
          <p:cNvPr id="11" name="L 形 10"/>
          <p:cNvSpPr/>
          <p:nvPr/>
        </p:nvSpPr>
        <p:spPr>
          <a:xfrm rot="18699400">
            <a:off x="4277995" y="5118100"/>
            <a:ext cx="664845" cy="441325"/>
          </a:xfrm>
          <a:prstGeom prst="corne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881755" y="6344285"/>
            <a:ext cx="3487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穿着志愿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者服的注意事项</a:t>
            </a:r>
            <a:endParaRPr lang="zh-CN" altLang="en-US"/>
          </a:p>
        </p:txBody>
      </p:sp>
      <p:pic>
        <p:nvPicPr>
          <p:cNvPr id="5" name="图片 4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87500" y="530860"/>
            <a:ext cx="68414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在志愿活动结束后，志愿者脱下志愿者服，将志愿者服折叠后归还给志愿活动主办</a:t>
            </a:r>
            <a:r>
              <a:rPr lang="zh-CN" altLang="en-US"/>
              <a:t>组织。</a:t>
            </a:r>
            <a:endParaRPr lang="zh-CN" altLang="en-US"/>
          </a:p>
          <a:p>
            <a:r>
              <a:rPr lang="zh-CN" altLang="en-US"/>
              <a:t>需要注意的是，折叠志愿者服时应将志愿者的标志放置</a:t>
            </a:r>
            <a:r>
              <a:rPr lang="zh-CN" altLang="en-US"/>
              <a:t>最上方。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6610" y="1605280"/>
            <a:ext cx="5584825" cy="418401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36" name="iṡḻiďè"/>
          <p:cNvSpPr/>
          <p:nvPr/>
        </p:nvSpPr>
        <p:spPr bwMode="auto">
          <a:xfrm rot="17590292">
            <a:off x="1584123" y="1931786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6"/>
            </p:custDataLst>
          </p:nvPr>
        </p:nvSpPr>
        <p:spPr>
          <a:xfrm>
            <a:off x="1365369" y="290760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06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74260" y="2979420"/>
            <a:ext cx="3878580" cy="64516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0070C0"/>
                </a:solidFill>
              </a:rPr>
              <a:t>如何查看志愿时长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8870" y="578485"/>
            <a:ext cx="2808605" cy="39878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70C0"/>
                </a:solidFill>
              </a:rPr>
              <a:t>志愿</a:t>
            </a:r>
            <a:r>
              <a:rPr lang="zh-CN" altLang="en-US" sz="2000" b="1">
                <a:solidFill>
                  <a:srgbClr val="0070C0"/>
                </a:solidFill>
              </a:rPr>
              <a:t>深圳网页</a:t>
            </a:r>
            <a:r>
              <a:rPr lang="zh-CN" altLang="en-US" sz="2000" b="1">
                <a:solidFill>
                  <a:srgbClr val="0070C0"/>
                </a:solidFill>
              </a:rPr>
              <a:t>版</a:t>
            </a:r>
            <a:endParaRPr lang="zh-CN" altLang="en-US" sz="2000" b="1">
              <a:solidFill>
                <a:srgbClr val="0070C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7275" y="1169035"/>
            <a:ext cx="73456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ym typeface="+mn-ea"/>
              </a:rPr>
              <a:t>手机或电脑均可操作，以电脑端操作为例，浏览器</a:t>
            </a:r>
            <a:r>
              <a:rPr lang="zh-CN" altLang="en-US" b="1" dirty="0">
                <a:solidFill>
                  <a:srgbClr val="404040"/>
                </a:solidFill>
                <a:sym typeface="+mn-ea"/>
              </a:rPr>
              <a:t>输入网址https://v.sva.org.cn/SZWSLDPC/#/，</a:t>
            </a:r>
            <a:r>
              <a:rPr lang="zh-CN" altLang="en-US" b="1" dirty="0">
                <a:sym typeface="+mn-ea"/>
              </a:rPr>
              <a:t>进入志愿深圳官网，用志愿者号或者身份证与密码登录。点击时长公示即可。</a:t>
            </a:r>
            <a:endParaRPr lang="zh-CN" altLang="en-US" b="1" dirty="0"/>
          </a:p>
          <a:p>
            <a:endParaRPr lang="zh-CN" altLang="en-US" b="1" dirty="0">
              <a:solidFill>
                <a:srgbClr val="40404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30" y="2138045"/>
            <a:ext cx="8041005" cy="39833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020185" y="4481830"/>
            <a:ext cx="1666875" cy="1605280"/>
          </a:xfrm>
          <a:prstGeom prst="rect">
            <a:avLst/>
          </a:prstGeom>
          <a:noFill/>
          <a:ln w="4762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05835" y="6447155"/>
            <a:ext cx="2675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如何查看志愿时长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26160" y="469265"/>
            <a:ext cx="2901315" cy="36830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70C0"/>
                </a:solidFill>
              </a:rPr>
              <a:t>志愿深圳小程序版</a:t>
            </a:r>
            <a:endParaRPr lang="zh-CN" altLang="en-US" b="1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44015" y="911860"/>
            <a:ext cx="2593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在微信上搜索</a:t>
            </a:r>
            <a:r>
              <a:rPr lang="en-US" altLang="zh-CN"/>
              <a:t>“</a:t>
            </a:r>
            <a:r>
              <a:rPr lang="zh-CN" altLang="en-US"/>
              <a:t>志愿深圳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605790"/>
            <a:ext cx="5877560" cy="1968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45" y="1296670"/>
            <a:ext cx="3051810" cy="55524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168525" y="2712085"/>
            <a:ext cx="977265" cy="555625"/>
          </a:xfrm>
          <a:prstGeom prst="rect">
            <a:avLst/>
          </a:prstGeom>
          <a:noFill/>
          <a:ln w="4762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131435" y="3103245"/>
            <a:ext cx="3848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进入小程序后，登录账号。点击下方</a:t>
            </a:r>
            <a:r>
              <a:rPr lang="en-US" altLang="zh-CN"/>
              <a:t>“</a:t>
            </a:r>
            <a:r>
              <a:rPr lang="zh-CN" altLang="en-US"/>
              <a:t>我的</a:t>
            </a:r>
            <a:r>
              <a:rPr lang="en-US" altLang="zh-CN"/>
              <a:t>”</a:t>
            </a:r>
            <a:r>
              <a:rPr lang="zh-CN" altLang="en-US"/>
              <a:t>即可查看志愿</a:t>
            </a:r>
            <a:r>
              <a:rPr lang="zh-CN" altLang="en-US"/>
              <a:t>时长。</a:t>
            </a:r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8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08475" y="6405880"/>
            <a:ext cx="236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如何查看志愿时长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5" name="图片 4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26160" y="469265"/>
            <a:ext cx="2901315" cy="36830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70C0"/>
                </a:solidFill>
              </a:rPr>
              <a:t>i</a:t>
            </a:r>
            <a:r>
              <a:rPr lang="zh-CN" altLang="en-US" b="1">
                <a:solidFill>
                  <a:srgbClr val="0070C0"/>
                </a:solidFill>
              </a:rPr>
              <a:t>志愿</a:t>
            </a:r>
            <a:endParaRPr lang="zh-CN" altLang="en-US" b="1">
              <a:solidFill>
                <a:srgbClr val="0070C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4245" y="1169035"/>
            <a:ext cx="5504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关注公众号</a:t>
            </a:r>
            <a:r>
              <a:rPr lang="en-US" altLang="zh-CN"/>
              <a:t>“i</a:t>
            </a:r>
            <a:r>
              <a:rPr lang="zh-CN" altLang="en-US"/>
              <a:t>志愿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45" y="1623695"/>
            <a:ext cx="4357370" cy="282829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742690" y="6426200"/>
            <a:ext cx="335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如何查看志愿时长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2005" y="650240"/>
            <a:ext cx="3159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点击下方</a:t>
            </a:r>
            <a:r>
              <a:rPr lang="en-US" altLang="zh-CN"/>
              <a:t>“</a:t>
            </a:r>
            <a:r>
              <a:rPr lang="zh-CN" altLang="en-US"/>
              <a:t>志愿者</a:t>
            </a:r>
            <a:r>
              <a:rPr lang="en-US" altLang="zh-CN"/>
              <a:t>|</a:t>
            </a:r>
            <a:r>
              <a:rPr lang="zh-CN" altLang="en-US"/>
              <a:t>志愿活动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45" y="1922145"/>
            <a:ext cx="4413885" cy="344614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010025" y="6405880"/>
            <a:ext cx="311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如何查看志愿时长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34085" y="3391535"/>
            <a:ext cx="2191385" cy="53467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21735" y="6467475"/>
            <a:ext cx="2600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如何查看志愿时长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9925" y="469900"/>
            <a:ext cx="2726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我的</a:t>
            </a:r>
            <a:r>
              <a:rPr lang="en-US" altLang="zh-CN"/>
              <a:t>”</a:t>
            </a:r>
            <a:r>
              <a:rPr lang="zh-CN" altLang="en-US"/>
              <a:t>，登录账号后，即可查阅服务</a:t>
            </a:r>
            <a:r>
              <a:rPr lang="zh-CN" altLang="en-US"/>
              <a:t>时长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7595" y="25400"/>
            <a:ext cx="3226435" cy="62147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721735" y="1250950"/>
            <a:ext cx="1533525" cy="68961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36" name="iṡḻiďè"/>
          <p:cNvSpPr/>
          <p:nvPr/>
        </p:nvSpPr>
        <p:spPr bwMode="auto">
          <a:xfrm rot="17590292">
            <a:off x="1584123" y="1932421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5"/>
            </p:custDataLst>
          </p:nvPr>
        </p:nvSpPr>
        <p:spPr>
          <a:xfrm>
            <a:off x="1365369" y="290760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07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79670" y="2971800"/>
            <a:ext cx="4320000" cy="72000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solidFill>
                  <a:srgbClr val="0070C0"/>
                </a:solidFill>
              </a:rPr>
              <a:t>如何申请《</a:t>
            </a:r>
            <a:r>
              <a:rPr lang="zh-CN" altLang="en-US" sz="2400" b="1">
                <a:solidFill>
                  <a:srgbClr val="0070C0"/>
                </a:solidFill>
              </a:rPr>
              <a:t>志愿时服务认证表》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639820" y="6457315"/>
            <a:ext cx="344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</a:t>
            </a:r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志愿时服务认证表》</a:t>
            </a:r>
            <a:endParaRPr lang="zh-CN" altLang="en-US">
              <a:solidFill>
                <a:schemeClr val="tx1"/>
              </a:solidFill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98550" y="1308100"/>
            <a:ext cx="7633970" cy="460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什么是</a:t>
            </a:r>
            <a:r>
              <a:rPr lang="en-US" altLang="zh-CN">
                <a:sym typeface="+mn-ea"/>
              </a:rPr>
              <a:t>《</a:t>
            </a:r>
            <a:r>
              <a:rPr lang="zh-CN" altLang="en-US">
                <a:sym typeface="+mn-ea"/>
              </a:rPr>
              <a:t>志愿</a:t>
            </a:r>
            <a:r>
              <a:rPr lang="en-US" altLang="zh-CN">
                <a:sym typeface="+mn-ea"/>
              </a:rPr>
              <a:t>时服务认证表》</a:t>
            </a:r>
            <a:r>
              <a:rPr lang="zh-CN" altLang="en-US">
                <a:sym typeface="+mn-ea"/>
              </a:rPr>
              <a:t>？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/>
              <a:t>《</a:t>
            </a:r>
            <a:r>
              <a:rPr lang="zh-CN" altLang="en-US"/>
              <a:t>志愿</a:t>
            </a:r>
            <a:r>
              <a:rPr lang="en-US" altLang="zh-CN"/>
              <a:t>时服务认证表》是志愿者在深大义工、志愿深圳、i志愿三大平台中累计的义工时的汇总，是义工时经过审核承认后的纸质化呈现。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/>
              <a:t>《志愿时服务认证表》由深大志愿者联合会人力资源部及丽湖分会人力资源部进行审核，两部门审核完成后，统一由人力资源部交由校团委进行认证、盖章。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申请及领取流程</a:t>
            </a:r>
            <a:endParaRPr lang="en-US" altLang="zh-CN"/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/>
              <a:t>1.在志愿深圳、i志愿、深大义工三个平台上导出自己的志愿时证明材料</a:t>
            </a:r>
            <a:endParaRPr lang="en-US" altLang="zh-CN"/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/>
              <a:t>2.计算三个平台的义工时，按要求填写《志愿时服务认证表》</a:t>
            </a:r>
            <a:endParaRPr lang="en-US" altLang="zh-CN"/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/>
              <a:t>3.在公众号“深圳大学志愿者联合会”填写制表申请问卷，并在问卷中附上《志愿时服务认证表》和三个平台的证明材料</a:t>
            </a:r>
            <a:endParaRPr lang="en-US" altLang="zh-CN"/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/>
              <a:t>4.查询制表状态为“已完成”后，在朝夕楼112或守正楼19号窗口领取盖章好的《志愿时服务认证表》</a:t>
            </a:r>
            <a:endParaRPr lang="en-US" altLang="zh-CN"/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endParaRPr lang="en-US" altLang="zh-CN"/>
          </a:p>
          <a:p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8550" y="654685"/>
            <a:ext cx="4177030" cy="39878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70C0"/>
                </a:solidFill>
              </a:rPr>
              <a:t>《志愿时服务认证表》介绍</a:t>
            </a:r>
            <a:endParaRPr lang="zh-CN" altLang="en-US" sz="2000" b="1">
              <a:solidFill>
                <a:srgbClr val="0070C0"/>
              </a:solidFill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54400" y="6426200"/>
            <a:ext cx="330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志愿时服务认证表》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45565" y="520700"/>
            <a:ext cx="3168650" cy="39878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70C0"/>
                </a:solidFill>
              </a:rPr>
              <a:t>如何导出志愿时证明文件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7320" y="1282065"/>
            <a:ext cx="6800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志愿深圳证明文件的导出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1.登录志愿深圳微信小程序，在小程序中点击【我的】，进入个人页面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2.在个人页面中，找到【我的活动】-【服务明细】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565" y="2843530"/>
            <a:ext cx="3004185" cy="30041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0360" y="2759710"/>
            <a:ext cx="2797810" cy="35217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54400" y="6426200"/>
            <a:ext cx="330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志愿时服务认证表》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80465" y="675005"/>
            <a:ext cx="8745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3.进入【服务明细】后，服务记录范围可自行根据个人制表需要进行选择，点击“查询”，再点击下方的【导出明细】，即可导出志愿深圳平台的证明文件，文件为PDF格式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45" y="1597025"/>
            <a:ext cx="2399030" cy="48437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24605" y="1714500"/>
            <a:ext cx="5998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下图为正确的志愿深圳志愿时证明文件：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4605" y="2284095"/>
            <a:ext cx="5483860" cy="38677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133850" y="6416040"/>
            <a:ext cx="328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6160" y="530860"/>
            <a:ext cx="88284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i志愿证明文件的导出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1.登录i志愿官网（链接：https://www.gdzyz.cn/)在官网下方找到广东志愿服务时间证书查询输入自己的证件编号（ZS+身份证号码）、姓名及验证码，点击查询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930" y="1965325"/>
            <a:ext cx="7674610" cy="37585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084195" y="6447155"/>
            <a:ext cx="3642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76045" y="942340"/>
            <a:ext cx="7417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2.点击证书右上方【服务时间明细下载】即可下载本人的服务时间明细（注意：制表时上传的证明文件为服务时间明细，而不是证书）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555" y="1851025"/>
            <a:ext cx="7500620" cy="2872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40510" y="4965700"/>
            <a:ext cx="7252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i志愿平台的证明文件中有时会包含志愿深圳的志愿时，这部分重复的志愿时在计算时归属于志愿深圳平台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375025" y="6384925"/>
            <a:ext cx="330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8390" y="675005"/>
            <a:ext cx="7715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下图即为正确的i志愿志愿时证明文件：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1500" y="1339215"/>
            <a:ext cx="7178675" cy="453453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258820" y="6426200"/>
            <a:ext cx="4146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74725" y="736600"/>
            <a:ext cx="8343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深大义工证明文件的导出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注：深大义工平台证明文件为Word文档只有部分学生拥有深大义工平台的志愿时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1.进入深圳大学义工联合会官网（链接：https://yigong.szu.edu.cn/Manage/ygs)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点击官网右上角的【登陆】，选择【统一认证登陆】，输入自己的账号密码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840" y="1935480"/>
            <a:ext cx="5643880" cy="37096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15770" y="5781040"/>
            <a:ext cx="3878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默认账号：十位数学号</a:t>
            </a:r>
            <a:endParaRPr lang="zh-CN" altLang="en-US"/>
          </a:p>
          <a:p>
            <a:r>
              <a:rPr lang="zh-CN" altLang="en-US"/>
              <a:t>默认密码：身份证后八位数字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577590" y="6353810"/>
            <a:ext cx="3384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83335" y="502285"/>
            <a:ext cx="8313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登陆完成之后，原来的【登陆】按钮会变成【后台管理】，点击进入后台管理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335" y="1083310"/>
            <a:ext cx="4785360" cy="16687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83335" y="3289935"/>
            <a:ext cx="3745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进入后台管理后，点击左边的</a:t>
            </a:r>
            <a:endParaRPr lang="zh-CN" altLang="en-US"/>
          </a:p>
          <a:p>
            <a:r>
              <a:rPr lang="zh-CN" altLang="en-US"/>
              <a:t>【义工时】——【义工时管理】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225" y="1205865"/>
            <a:ext cx="3097530" cy="48126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022600" y="6405880"/>
            <a:ext cx="4135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78915" y="194945"/>
            <a:ext cx="7953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进入【义工时管理】页面之后，在【学号】一栏后面输入自己的学号，点击蓝色的【搜索】按钮，即可搜索自己在深大义工上的全部志愿时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1395" y="840105"/>
            <a:ext cx="5638800" cy="21869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18920" y="3086100"/>
            <a:ext cx="7752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点击网站右上方的【pick me】，就可以导出Word格式的深大义工证明文件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rcRect t="2060" b="14966"/>
          <a:stretch>
            <a:fillRect/>
          </a:stretch>
        </p:blipFill>
        <p:spPr>
          <a:xfrm>
            <a:off x="2416175" y="3513455"/>
            <a:ext cx="5494020" cy="27882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331210" y="6353810"/>
            <a:ext cx="3518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</p:txBody>
      </p: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3175" y="366395"/>
            <a:ext cx="701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下图即为正确的深大义工志愿时证明文件：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b="11339"/>
          <a:stretch>
            <a:fillRect/>
          </a:stretch>
        </p:blipFill>
        <p:spPr>
          <a:xfrm>
            <a:off x="2292350" y="774700"/>
            <a:ext cx="5334000" cy="546671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133850" y="6353810"/>
            <a:ext cx="325120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如何申请《志愿时服务认证表》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24610" y="510540"/>
            <a:ext cx="8220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上述内容</a:t>
            </a:r>
            <a:r>
              <a:rPr lang="zh-CN" altLang="en-US"/>
              <a:t>摘自深圳大学志愿者联合会公众号</a:t>
            </a:r>
            <a:r>
              <a:rPr lang="en-US" altLang="zh-CN"/>
              <a:t>--</a:t>
            </a:r>
            <a:r>
              <a:rPr lang="zh-CN" altLang="en-US"/>
              <a:t>《纯干货！ | 请查收，志愿时服务认证流程已更新》</a:t>
            </a:r>
            <a:endParaRPr lang="zh-CN" altLang="en-US"/>
          </a:p>
          <a:p>
            <a:r>
              <a:rPr lang="zh-CN" altLang="en-US"/>
              <a:t>为节约时间，上述仅介绍了部分内容。更多了解可自行前往公众号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l="3258" t="9586" r="28528" b="12539"/>
          <a:stretch>
            <a:fillRect/>
          </a:stretch>
        </p:blipFill>
        <p:spPr>
          <a:xfrm>
            <a:off x="3619500" y="1527175"/>
            <a:ext cx="4067175" cy="477139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sp>
        <p:nvSpPr>
          <p:cNvPr id="36" name="iṡḻiďè"/>
          <p:cNvSpPr/>
          <p:nvPr/>
        </p:nvSpPr>
        <p:spPr bwMode="auto">
          <a:xfrm rot="17590292">
            <a:off x="1584123" y="1932421"/>
            <a:ext cx="2288396" cy="1982107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48A2A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iṡḻiďè"/>
          <p:cNvSpPr/>
          <p:nvPr/>
        </p:nvSpPr>
        <p:spPr bwMode="auto">
          <a:xfrm rot="17590292">
            <a:off x="2495652" y="2419579"/>
            <a:ext cx="1979382" cy="1714453"/>
          </a:xfrm>
          <a:custGeom>
            <a:avLst/>
            <a:gdLst>
              <a:gd name="T0" fmla="*/ 504 w 1231"/>
              <a:gd name="T1" fmla="*/ 86 h 1067"/>
              <a:gd name="T2" fmla="*/ 49 w 1231"/>
              <a:gd name="T3" fmla="*/ 874 h 1067"/>
              <a:gd name="T4" fmla="*/ 161 w 1231"/>
              <a:gd name="T5" fmla="*/ 1067 h 1067"/>
              <a:gd name="T6" fmla="*/ 1070 w 1231"/>
              <a:gd name="T7" fmla="*/ 1067 h 1067"/>
              <a:gd name="T8" fmla="*/ 1182 w 1231"/>
              <a:gd name="T9" fmla="*/ 874 h 1067"/>
              <a:gd name="T10" fmla="*/ 727 w 1231"/>
              <a:gd name="T11" fmla="*/ 86 h 1067"/>
              <a:gd name="T12" fmla="*/ 504 w 1231"/>
              <a:gd name="T13" fmla="*/ 86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1" h="1067">
                <a:moveTo>
                  <a:pt x="504" y="86"/>
                </a:moveTo>
                <a:cubicBezTo>
                  <a:pt x="49" y="874"/>
                  <a:pt x="49" y="874"/>
                  <a:pt x="49" y="874"/>
                </a:cubicBezTo>
                <a:cubicBezTo>
                  <a:pt x="0" y="960"/>
                  <a:pt x="62" y="1067"/>
                  <a:pt x="161" y="1067"/>
                </a:cubicBezTo>
                <a:cubicBezTo>
                  <a:pt x="1070" y="1067"/>
                  <a:pt x="1070" y="1067"/>
                  <a:pt x="1070" y="1067"/>
                </a:cubicBezTo>
                <a:cubicBezTo>
                  <a:pt x="1170" y="1067"/>
                  <a:pt x="1231" y="960"/>
                  <a:pt x="1182" y="874"/>
                </a:cubicBezTo>
                <a:cubicBezTo>
                  <a:pt x="727" y="86"/>
                  <a:pt x="727" y="86"/>
                  <a:pt x="727" y="86"/>
                </a:cubicBezTo>
                <a:cubicBezTo>
                  <a:pt x="678" y="0"/>
                  <a:pt x="554" y="0"/>
                  <a:pt x="504" y="86"/>
                </a:cubicBezTo>
                <a:close/>
              </a:path>
            </a:pathLst>
          </a:custGeom>
          <a:solidFill>
            <a:srgbClr val="6C92C0">
              <a:alpha val="6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3" name="MH_Others_1"/>
          <p:cNvSpPr txBox="1"/>
          <p:nvPr>
            <p:custDataLst>
              <p:tags r:id="rId6"/>
            </p:custDataLst>
          </p:nvPr>
        </p:nvSpPr>
        <p:spPr>
          <a:xfrm>
            <a:off x="1365369" y="2907600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08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97755" y="2907665"/>
            <a:ext cx="4320000" cy="720000"/>
          </a:xfrm>
          <a:prstGeom prst="rect">
            <a:avLst/>
          </a:prstGeom>
          <a:solidFill>
            <a:srgbClr val="ADE0D7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3600" b="1">
                <a:solidFill>
                  <a:srgbClr val="0070C0"/>
                </a:solidFill>
              </a:rPr>
              <a:t>志愿者能获得什么</a:t>
            </a:r>
            <a:endParaRPr lang="zh-CN" altLang="en-US" sz="3600" b="1">
              <a:solidFill>
                <a:srgbClr val="0070C0"/>
              </a:solidFill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689350" y="6405880"/>
            <a:ext cx="2674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志愿者能获得什么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3145" y="624205"/>
            <a:ext cx="8509000" cy="552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04040"/>
                </a:solidFill>
                <a:sym typeface="+mn-ea"/>
              </a:rPr>
              <a:t>参加志愿者活动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体现个人社会价值</a:t>
            </a:r>
            <a:r>
              <a:rPr lang="zh-CN" altLang="en-US" sz="2400">
                <a:solidFill>
                  <a:srgbClr val="404040"/>
                </a:solidFill>
                <a:sym typeface="+mn-ea"/>
              </a:rPr>
              <a:t>。做公益活动，是帮助他人解决困难，服务社会，传播文明、温暖与爱的一个服务过程。可以体现出个人对社会、对他人的价值，让社会变得美好，人和人之间友爱互助，促进社会和谐发展。</a:t>
            </a: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04040"/>
                </a:solidFill>
                <a:sym typeface="+mn-ea"/>
              </a:rPr>
              <a:t>一些大型的志愿活动也可以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写在个人的简历档案</a:t>
            </a:r>
            <a:r>
              <a:rPr lang="zh-CN" altLang="en-US" sz="2400">
                <a:solidFill>
                  <a:srgbClr val="404040"/>
                </a:solidFill>
                <a:sym typeface="+mn-ea"/>
              </a:rPr>
              <a:t>里，能够增加个人简历的丰富度和个人的竞争力。</a:t>
            </a: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04040"/>
                </a:solidFill>
                <a:sym typeface="+mn-ea"/>
              </a:rPr>
              <a:t>参加志愿活动可以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学到许多本专业以外的知识</a:t>
            </a:r>
            <a:r>
              <a:rPr lang="zh-CN" altLang="en-US" sz="2400">
                <a:solidFill>
                  <a:srgbClr val="404040"/>
                </a:solidFill>
                <a:sym typeface="+mn-ea"/>
              </a:rPr>
              <a:t>，这些知识能够帮助个人得到更好的发展</a:t>
            </a:r>
            <a:endParaRPr lang="zh-CN" altLang="en-US" sz="240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rgbClr val="404040"/>
              </a:solidFill>
            </a:endParaRPr>
          </a:p>
          <a:p>
            <a:endParaRPr lang="zh-CN" altLang="en-US" sz="2400">
              <a:solidFill>
                <a:srgbClr val="404040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210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689350" y="6405880"/>
            <a:ext cx="2674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志愿者能获得什么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8565" y="429260"/>
            <a:ext cx="8333105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参加志愿者活动达到一定的量，或者达到一定的时长要求，就可以拥有素质拓展的加分，这个加分对于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评奖评优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以及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入党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入团</a:t>
            </a:r>
            <a:r>
              <a:rPr lang="zh-CN" altLang="en-US" sz="2000" dirty="0">
                <a:solidFill>
                  <a:srgbClr val="404040"/>
                </a:solidFill>
                <a:sym typeface="+mn-ea"/>
              </a:rPr>
              <a:t>等等都有很</a:t>
            </a:r>
            <a:r>
              <a:rPr lang="zh-CN" altLang="en-US" sz="2400" dirty="0">
                <a:solidFill>
                  <a:srgbClr val="404040"/>
                </a:solidFill>
                <a:sym typeface="+mn-ea"/>
              </a:rPr>
              <a:t>大帮助。</a:t>
            </a:r>
            <a:endParaRPr lang="zh-CN" altLang="en-US" sz="2400" dirty="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 dirty="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 dirty="0">
              <a:solidFill>
                <a:srgbClr val="40404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 dirty="0">
              <a:solidFill>
                <a:srgbClr val="404040"/>
              </a:solidFill>
            </a:endParaRPr>
          </a:p>
          <a:p>
            <a:pPr indent="0">
              <a:buNone/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       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rcRect t="24289" b="20017"/>
          <a:stretch>
            <a:fillRect/>
          </a:stretch>
        </p:blipFill>
        <p:spPr>
          <a:xfrm>
            <a:off x="3348355" y="1537335"/>
            <a:ext cx="4044950" cy="49517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pic>
        <p:nvPicPr>
          <p:cNvPr id="6" name="图片 5" descr="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2105" y="4230370"/>
            <a:ext cx="2710180" cy="2710180"/>
          </a:xfrm>
          <a:prstGeom prst="rect">
            <a:avLst/>
          </a:prstGeom>
        </p:spPr>
      </p:pic>
      <p:cxnSp>
        <p:nvCxnSpPr>
          <p:cNvPr id="30" name="直接连接符 29"/>
          <p:cNvCxnSpPr/>
          <p:nvPr>
            <p:custDataLst>
              <p:tags r:id="rId6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83710" y="6388735"/>
            <a:ext cx="2647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sym typeface="+mn-ea"/>
              </a:rPr>
              <a:t>志愿者能获得什么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16355" y="1025525"/>
            <a:ext cx="8202930" cy="3491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         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评优</a:t>
            </a:r>
            <a:r>
              <a:rPr lang="zh-CN" altLang="en-US" sz="2400" dirty="0">
                <a:solidFill>
                  <a:srgbClr val="404040"/>
                </a:solidFill>
                <a:sym typeface="+mn-ea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可以申请一年一度的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公益之星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奖项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  <a:p>
            <a:pPr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zh-CN" altLang="en-US" sz="2400" dirty="0">
                <a:sym typeface="+mn-ea"/>
              </a:rPr>
              <a:t>（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公益之星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以志愿服务工作实绩为依据，至少需满</a:t>
            </a:r>
            <a:r>
              <a:rPr lang="en-US" altLang="zh-CN" sz="2400" dirty="0">
                <a:sym typeface="+mn-ea"/>
              </a:rPr>
              <a:t>20h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indent="0">
              <a:buNone/>
            </a:pPr>
            <a:endParaRPr lang="zh-CN" altLang="en-US" sz="24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入团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：申请加入广东共青团需要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20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个义工时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indent="0">
              <a:buNone/>
            </a:pPr>
            <a:endParaRPr lang="zh-CN" altLang="en-US" sz="24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入党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：申请加入中国共产党有一定的义工时要求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                 (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不同学院不同要求）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 dirty="0">
              <a:solidFill>
                <a:srgbClr val="FF0000"/>
              </a:solidFill>
            </a:endParaRPr>
          </a:p>
          <a:p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0800000">
            <a:off x="-598644" y="4863839"/>
            <a:ext cx="2117288" cy="2334478"/>
            <a:chOff x="9664473" y="816338"/>
            <a:chExt cx="3185286" cy="3512032"/>
          </a:xfrm>
        </p:grpSpPr>
        <p:sp>
          <p:nvSpPr>
            <p:cNvPr id="20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48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0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1967220" y="6354112"/>
            <a:ext cx="7186590" cy="0"/>
          </a:xfrm>
          <a:prstGeom prst="line">
            <a:avLst/>
          </a:prstGeom>
          <a:ln w="12700">
            <a:solidFill>
              <a:srgbClr val="CCCCC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2105" y="4230370"/>
            <a:ext cx="2710180" cy="2710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3785" y="487045"/>
            <a:ext cx="8798560" cy="3192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/>
              <a:t>提问：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1</a:t>
            </a:r>
            <a:r>
              <a:rPr lang="zh-CN" altLang="en-US" sz="2400"/>
              <a:t>、深圳大学志愿者联合会下设五大职能部门，请问它们分别是？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      </a:t>
            </a:r>
            <a:r>
              <a:rPr lang="zh-CN" altLang="en-US" sz="2400"/>
              <a:t>宣传部，办公室，人力资源部，项目部，培训</a:t>
            </a:r>
            <a:r>
              <a:rPr lang="zh-CN" altLang="en-US" sz="2400"/>
              <a:t>部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2</a:t>
            </a:r>
            <a:r>
              <a:rPr lang="zh-CN" altLang="en-US" sz="2400"/>
              <a:t>、当做志愿时你需要出入洗手间，你应该怎么做？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zh-CN" altLang="en-US" sz="2400"/>
              <a:t> </a:t>
            </a:r>
            <a:r>
              <a:rPr lang="en-US" altLang="zh-CN" sz="2400"/>
              <a:t>     </a:t>
            </a:r>
            <a:r>
              <a:rPr lang="zh-CN" altLang="en-US" sz="2400"/>
              <a:t>脱下志愿者</a:t>
            </a:r>
            <a:r>
              <a:rPr lang="zh-CN" altLang="en-US" sz="2400"/>
              <a:t>服。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3</a:t>
            </a:r>
            <a:r>
              <a:rPr lang="zh-CN" altLang="en-US" sz="2400"/>
              <a:t>、折叠志愿者服时应注意什么？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      </a:t>
            </a:r>
            <a:r>
              <a:rPr lang="zh-CN" altLang="en-US" sz="2400"/>
              <a:t>将志愿者的标志摆在</a:t>
            </a:r>
            <a:r>
              <a:rPr lang="zh-CN" altLang="en-US" sz="2400"/>
              <a:t>最上方。</a:t>
            </a:r>
            <a:endParaRPr lang="zh-CN" altLang="en-US" sz="24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ṩľïd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 rot="10800000">
            <a:off x="-885900" y="3867109"/>
            <a:ext cx="3185286" cy="3512032"/>
            <a:chOff x="9664473" y="816338"/>
            <a:chExt cx="3185286" cy="3512032"/>
          </a:xfrm>
        </p:grpSpPr>
        <p:sp>
          <p:nvSpPr>
            <p:cNvPr id="24" name="íṧḻiḋe"/>
            <p:cNvSpPr/>
            <p:nvPr/>
          </p:nvSpPr>
          <p:spPr>
            <a:xfrm>
              <a:off x="9664473" y="816338"/>
              <a:ext cx="2594163" cy="2540781"/>
            </a:xfrm>
            <a:custGeom>
              <a:avLst/>
              <a:gdLst>
                <a:gd name="connsiteX0" fmla="*/ 1096849 w 2594163"/>
                <a:gd name="connsiteY0" fmla="*/ 1533 h 2540781"/>
                <a:gd name="connsiteX1" fmla="*/ 1297103 w 2594163"/>
                <a:gd name="connsiteY1" fmla="*/ 112338 h 2540781"/>
                <a:gd name="connsiteX2" fmla="*/ 2482547 w 2594163"/>
                <a:gd name="connsiteY2" fmla="*/ 1602255 h 2540781"/>
                <a:gd name="connsiteX3" fmla="*/ 2594163 w 2594163"/>
                <a:gd name="connsiteY3" fmla="*/ 1742539 h 2540781"/>
                <a:gd name="connsiteX4" fmla="*/ 2594163 w 2594163"/>
                <a:gd name="connsiteY4" fmla="*/ 2125138 h 2540781"/>
                <a:gd name="connsiteX5" fmla="*/ 2556967 w 2594163"/>
                <a:gd name="connsiteY5" fmla="*/ 2164725 h 2540781"/>
                <a:gd name="connsiteX6" fmla="*/ 2411465 w 2594163"/>
                <a:gd name="connsiteY6" fmla="*/ 2228461 h 2540781"/>
                <a:gd name="connsiteX7" fmla="*/ 341159 w 2594163"/>
                <a:gd name="connsiteY7" fmla="*/ 2537387 h 2540781"/>
                <a:gd name="connsiteX8" fmla="*/ 20527 w 2594163"/>
                <a:gd name="connsiteY8" fmla="*/ 2136195 h 2540781"/>
                <a:gd name="connsiteX9" fmla="*/ 789206 w 2594163"/>
                <a:gd name="connsiteY9" fmla="*/ 188126 h 2540781"/>
                <a:gd name="connsiteX10" fmla="*/ 1096849 w 2594163"/>
                <a:gd name="connsiteY10" fmla="*/ 1533 h 254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4163" h="2540781">
                  <a:moveTo>
                    <a:pt x="1096849" y="1533"/>
                  </a:moveTo>
                  <a:cubicBezTo>
                    <a:pt x="1171584" y="9139"/>
                    <a:pt x="1244300" y="45184"/>
                    <a:pt x="1297103" y="112338"/>
                  </a:cubicBezTo>
                  <a:cubicBezTo>
                    <a:pt x="1297103" y="112338"/>
                    <a:pt x="1297103" y="112338"/>
                    <a:pt x="2482547" y="1602255"/>
                  </a:cubicBezTo>
                  <a:lnTo>
                    <a:pt x="2594163" y="1742539"/>
                  </a:lnTo>
                  <a:lnTo>
                    <a:pt x="2594163" y="2125138"/>
                  </a:lnTo>
                  <a:lnTo>
                    <a:pt x="2556967" y="2164725"/>
                  </a:lnTo>
                  <a:cubicBezTo>
                    <a:pt x="2517521" y="2197076"/>
                    <a:pt x="2468404" y="2219964"/>
                    <a:pt x="2411465" y="2228461"/>
                  </a:cubicBezTo>
                  <a:cubicBezTo>
                    <a:pt x="2411465" y="2228461"/>
                    <a:pt x="2411465" y="2228461"/>
                    <a:pt x="341159" y="2537387"/>
                  </a:cubicBezTo>
                  <a:cubicBezTo>
                    <a:pt x="115680" y="2571033"/>
                    <a:pt x="-61868" y="2348579"/>
                    <a:pt x="20527" y="2136195"/>
                  </a:cubicBezTo>
                  <a:cubicBezTo>
                    <a:pt x="20527" y="2136195"/>
                    <a:pt x="20527" y="2136195"/>
                    <a:pt x="789206" y="188126"/>
                  </a:cubicBezTo>
                  <a:cubicBezTo>
                    <a:pt x="842126" y="55174"/>
                    <a:pt x="972291" y="-11145"/>
                    <a:pt x="1096849" y="1533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íş1íḍè"/>
            <p:cNvSpPr/>
            <p:nvPr/>
          </p:nvSpPr>
          <p:spPr>
            <a:xfrm>
              <a:off x="10394558" y="1098972"/>
              <a:ext cx="2455201" cy="3229398"/>
            </a:xfrm>
            <a:custGeom>
              <a:avLst/>
              <a:gdLst>
                <a:gd name="connsiteX0" fmla="*/ 2455201 w 2455201"/>
                <a:gd name="connsiteY0" fmla="*/ 0 h 3229398"/>
                <a:gd name="connsiteX1" fmla="*/ 2455201 w 2455201"/>
                <a:gd name="connsiteY1" fmla="*/ 3229398 h 3229398"/>
                <a:gd name="connsiteX2" fmla="*/ 1689979 w 2455201"/>
                <a:gd name="connsiteY2" fmla="*/ 3229398 h 3229398"/>
                <a:gd name="connsiteX3" fmla="*/ 1422643 w 2455201"/>
                <a:gd name="connsiteY3" fmla="*/ 3097535 h 3229398"/>
                <a:gd name="connsiteX4" fmla="*/ 364836 w 2455201"/>
                <a:gd name="connsiteY4" fmla="*/ 2575771 h 3229398"/>
                <a:gd name="connsiteX5" fmla="*/ 288058 w 2455201"/>
                <a:gd name="connsiteY5" fmla="*/ 1446658 h 3229398"/>
                <a:gd name="connsiteX6" fmla="*/ 2346818 w 2455201"/>
                <a:gd name="connsiteY6" fmla="*/ 72350 h 322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5201" h="3229398">
                  <a:moveTo>
                    <a:pt x="2455201" y="0"/>
                  </a:moveTo>
                  <a:lnTo>
                    <a:pt x="2455201" y="3229398"/>
                  </a:lnTo>
                  <a:lnTo>
                    <a:pt x="1689979" y="3229398"/>
                  </a:lnTo>
                  <a:lnTo>
                    <a:pt x="1422643" y="3097535"/>
                  </a:lnTo>
                  <a:cubicBezTo>
                    <a:pt x="1104127" y="2940426"/>
                    <a:pt x="752661" y="2767066"/>
                    <a:pt x="364836" y="2575771"/>
                  </a:cubicBezTo>
                  <a:cubicBezTo>
                    <a:pt x="-85706" y="2353540"/>
                    <a:pt x="-127848" y="1727765"/>
                    <a:pt x="288058" y="1446658"/>
                  </a:cubicBezTo>
                  <a:cubicBezTo>
                    <a:pt x="288058" y="1446658"/>
                    <a:pt x="288058" y="1446658"/>
                    <a:pt x="2346818" y="72350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800000">
            <a:off x="9086997" y="-1443802"/>
            <a:ext cx="3204450" cy="4893654"/>
            <a:chOff x="-15240" y="3375944"/>
            <a:chExt cx="3204450" cy="4893654"/>
          </a:xfrm>
        </p:grpSpPr>
        <p:sp>
          <p:nvSpPr>
            <p:cNvPr id="32" name="íSliḑè"/>
            <p:cNvSpPr/>
            <p:nvPr/>
          </p:nvSpPr>
          <p:spPr>
            <a:xfrm>
              <a:off x="-15240" y="3375944"/>
              <a:ext cx="3204450" cy="3482057"/>
            </a:xfrm>
            <a:custGeom>
              <a:avLst/>
              <a:gdLst>
                <a:gd name="connsiteX0" fmla="*/ 0 w 3204450"/>
                <a:gd name="connsiteY0" fmla="*/ 0 h 3482057"/>
                <a:gd name="connsiteX1" fmla="*/ 45983 w 3204450"/>
                <a:gd name="connsiteY1" fmla="*/ 11609 h 3482057"/>
                <a:gd name="connsiteX2" fmla="*/ 334914 w 3204450"/>
                <a:gd name="connsiteY2" fmla="*/ 204539 h 3482057"/>
                <a:gd name="connsiteX3" fmla="*/ 3098684 w 3204450"/>
                <a:gd name="connsiteY3" fmla="*/ 3361253 h 3482057"/>
                <a:gd name="connsiteX4" fmla="*/ 3204450 w 3204450"/>
                <a:gd name="connsiteY4" fmla="*/ 3482057 h 3482057"/>
                <a:gd name="connsiteX5" fmla="*/ 0 w 3204450"/>
                <a:gd name="connsiteY5" fmla="*/ 3482057 h 348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4450" h="3482057">
                  <a:moveTo>
                    <a:pt x="0" y="0"/>
                  </a:moveTo>
                  <a:lnTo>
                    <a:pt x="45983" y="11609"/>
                  </a:lnTo>
                  <a:cubicBezTo>
                    <a:pt x="152616" y="46096"/>
                    <a:pt x="252790" y="109642"/>
                    <a:pt x="334914" y="204539"/>
                  </a:cubicBezTo>
                  <a:cubicBezTo>
                    <a:pt x="334914" y="204539"/>
                    <a:pt x="334914" y="204539"/>
                    <a:pt x="3098684" y="3361253"/>
                  </a:cubicBezTo>
                  <a:lnTo>
                    <a:pt x="3204450" y="3482057"/>
                  </a:lnTo>
                  <a:lnTo>
                    <a:pt x="0" y="3482057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3" name="íš1ïḋe"/>
            <p:cNvSpPr/>
            <p:nvPr/>
          </p:nvSpPr>
          <p:spPr>
            <a:xfrm>
              <a:off x="1" y="3977746"/>
              <a:ext cx="1366989" cy="4291852"/>
            </a:xfrm>
            <a:custGeom>
              <a:avLst/>
              <a:gdLst>
                <a:gd name="connsiteX0" fmla="*/ 899007 w 1366989"/>
                <a:gd name="connsiteY0" fmla="*/ 633 h 4291852"/>
                <a:gd name="connsiteX1" fmla="*/ 1343821 w 1366989"/>
                <a:gd name="connsiteY1" fmla="*/ 639191 h 4291852"/>
                <a:gd name="connsiteX2" fmla="*/ 316803 w 1366989"/>
                <a:gd name="connsiteY2" fmla="*/ 3970163 h 4291852"/>
                <a:gd name="connsiteX3" fmla="*/ 14549 w 1366989"/>
                <a:gd name="connsiteY3" fmla="*/ 4287566 h 4291852"/>
                <a:gd name="connsiteX4" fmla="*/ 0 w 1366989"/>
                <a:gd name="connsiteY4" fmla="*/ 4291852 h 4291852"/>
                <a:gd name="connsiteX5" fmla="*/ 0 w 1366989"/>
                <a:gd name="connsiteY5" fmla="*/ 186094 h 4291852"/>
                <a:gd name="connsiteX6" fmla="*/ 164343 w 1366989"/>
                <a:gd name="connsiteY6" fmla="*/ 148686 h 4291852"/>
                <a:gd name="connsiteX7" fmla="*/ 762612 w 1366989"/>
                <a:gd name="connsiteY7" fmla="*/ 12505 h 4291852"/>
                <a:gd name="connsiteX8" fmla="*/ 899007 w 1366989"/>
                <a:gd name="connsiteY8" fmla="*/ 633 h 42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6989" h="4291852">
                  <a:moveTo>
                    <a:pt x="899007" y="633"/>
                  </a:moveTo>
                  <a:cubicBezTo>
                    <a:pt x="1208404" y="16359"/>
                    <a:pt x="1443395" y="322717"/>
                    <a:pt x="1343821" y="639191"/>
                  </a:cubicBezTo>
                  <a:cubicBezTo>
                    <a:pt x="1343821" y="639191"/>
                    <a:pt x="1343821" y="639191"/>
                    <a:pt x="316803" y="3970163"/>
                  </a:cubicBezTo>
                  <a:cubicBezTo>
                    <a:pt x="267015" y="4128400"/>
                    <a:pt x="151065" y="4237937"/>
                    <a:pt x="14549" y="4287566"/>
                  </a:cubicBezTo>
                  <a:lnTo>
                    <a:pt x="0" y="4291852"/>
                  </a:lnTo>
                  <a:lnTo>
                    <a:pt x="0" y="186094"/>
                  </a:lnTo>
                  <a:lnTo>
                    <a:pt x="164343" y="148686"/>
                  </a:lnTo>
                  <a:cubicBezTo>
                    <a:pt x="351042" y="106189"/>
                    <a:pt x="550189" y="60858"/>
                    <a:pt x="762612" y="12505"/>
                  </a:cubicBezTo>
                  <a:cubicBezTo>
                    <a:pt x="809090" y="2071"/>
                    <a:pt x="854808" y="-1613"/>
                    <a:pt x="899007" y="633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iṡḻiďè"/>
            <p:cNvSpPr/>
            <p:nvPr/>
          </p:nvSpPr>
          <p:spPr bwMode="auto">
            <a:xfrm rot="17341789">
              <a:off x="632431" y="4600824"/>
              <a:ext cx="1191816" cy="1032298"/>
            </a:xfrm>
            <a:custGeom>
              <a:avLst/>
              <a:gdLst>
                <a:gd name="T0" fmla="*/ 504 w 1231"/>
                <a:gd name="T1" fmla="*/ 86 h 1067"/>
                <a:gd name="T2" fmla="*/ 49 w 1231"/>
                <a:gd name="T3" fmla="*/ 874 h 1067"/>
                <a:gd name="T4" fmla="*/ 161 w 1231"/>
                <a:gd name="T5" fmla="*/ 1067 h 1067"/>
                <a:gd name="T6" fmla="*/ 1070 w 1231"/>
                <a:gd name="T7" fmla="*/ 1067 h 1067"/>
                <a:gd name="T8" fmla="*/ 1182 w 1231"/>
                <a:gd name="T9" fmla="*/ 874 h 1067"/>
                <a:gd name="T10" fmla="*/ 727 w 1231"/>
                <a:gd name="T11" fmla="*/ 86 h 1067"/>
                <a:gd name="T12" fmla="*/ 504 w 1231"/>
                <a:gd name="T13" fmla="*/ 8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1" h="1067">
                  <a:moveTo>
                    <a:pt x="504" y="86"/>
                  </a:moveTo>
                  <a:cubicBezTo>
                    <a:pt x="49" y="874"/>
                    <a:pt x="49" y="874"/>
                    <a:pt x="49" y="874"/>
                  </a:cubicBezTo>
                  <a:cubicBezTo>
                    <a:pt x="0" y="960"/>
                    <a:pt x="62" y="1067"/>
                    <a:pt x="161" y="1067"/>
                  </a:cubicBezTo>
                  <a:cubicBezTo>
                    <a:pt x="1070" y="1067"/>
                    <a:pt x="1070" y="1067"/>
                    <a:pt x="1070" y="1067"/>
                  </a:cubicBezTo>
                  <a:cubicBezTo>
                    <a:pt x="1170" y="1067"/>
                    <a:pt x="1231" y="960"/>
                    <a:pt x="1182" y="874"/>
                  </a:cubicBezTo>
                  <a:cubicBezTo>
                    <a:pt x="727" y="86"/>
                    <a:pt x="727" y="86"/>
                    <a:pt x="727" y="86"/>
                  </a:cubicBezTo>
                  <a:cubicBezTo>
                    <a:pt x="678" y="0"/>
                    <a:pt x="554" y="0"/>
                    <a:pt x="504" y="86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cs typeface="+mn-ea"/>
                <a:sym typeface="+mn-lt"/>
              </a:endParaRPr>
            </a:p>
          </p:txBody>
        </p:sp>
      </p:grpSp>
      <p:sp>
        <p:nvSpPr>
          <p:cNvPr id="39" name="íşḷiḍé"/>
          <p:cNvSpPr/>
          <p:nvPr/>
        </p:nvSpPr>
        <p:spPr>
          <a:xfrm>
            <a:off x="3363903" y="1978118"/>
            <a:ext cx="137703" cy="137703"/>
          </a:xfrm>
          <a:prstGeom prst="ellipse">
            <a:avLst/>
          </a:prstGeom>
          <a:noFill/>
          <a:ln w="381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iṡḷîďê"/>
          <p:cNvSpPr txBox="1"/>
          <p:nvPr/>
        </p:nvSpPr>
        <p:spPr>
          <a:xfrm>
            <a:off x="2035810" y="2361447"/>
            <a:ext cx="7181850" cy="10883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540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通识培训到此</a:t>
            </a:r>
            <a:r>
              <a:rPr lang="zh-CN" altLang="en-US" sz="540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结束</a:t>
            </a:r>
            <a:endParaRPr lang="zh-CN" altLang="en-US" sz="5400" dirty="0">
              <a:solidFill>
                <a:srgbClr val="0070C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53715" y="3649345"/>
            <a:ext cx="5298440" cy="7683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4400" b="1">
                <a:solidFill>
                  <a:srgbClr val="0070C0"/>
                </a:solidFill>
              </a:rPr>
              <a:t>感谢各位</a:t>
            </a:r>
            <a:endParaRPr lang="zh-CN" altLang="en-US" sz="4400" b="1">
              <a:solidFill>
                <a:srgbClr val="0070C0"/>
              </a:solidFill>
            </a:endParaRPr>
          </a:p>
        </p:txBody>
      </p:sp>
      <p:sp>
        <p:nvSpPr>
          <p:cNvPr id="12" name="íṥļîḍe"/>
          <p:cNvSpPr/>
          <p:nvPr/>
        </p:nvSpPr>
        <p:spPr>
          <a:xfrm>
            <a:off x="3301513" y="4910349"/>
            <a:ext cx="3970655" cy="324485"/>
          </a:xfrm>
          <a:prstGeom prst="roundRect">
            <a:avLst>
              <a:gd name="adj" fmla="val 50000"/>
            </a:avLst>
          </a:prstGeom>
          <a:solidFill>
            <a:srgbClr val="6C92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dirty="0">
                <a:cs typeface="+mn-ea"/>
                <a:sym typeface="+mn-lt"/>
              </a:rPr>
              <a:t>志愿者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zh-CN" altLang="en-US" sz="2000" dirty="0">
                <a:cs typeface="+mn-ea"/>
                <a:sym typeface="+mn-lt"/>
              </a:rPr>
              <a:t>事关信仰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zh-CN" altLang="en-US" sz="2000" dirty="0">
                <a:cs typeface="+mn-ea"/>
                <a:sym typeface="+mn-lt"/>
              </a:rPr>
              <a:t>事关梦想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13" name="ïšḻíḋê"/>
          <p:cNvSpPr/>
          <p:nvPr/>
        </p:nvSpPr>
        <p:spPr>
          <a:xfrm>
            <a:off x="7601128" y="4888759"/>
            <a:ext cx="346062" cy="346061"/>
          </a:xfrm>
          <a:prstGeom prst="ellipse">
            <a:avLst/>
          </a:prstGeom>
          <a:solidFill>
            <a:srgbClr val="48A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5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9、11、12、13、14、15、16"/>
  <p:tag name="KSO_WM_TEMPLATE_SUBCATEGORY" val="1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63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6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6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6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6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6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7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7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2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73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74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75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76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7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78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79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80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1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82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83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84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5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86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87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8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8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9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9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9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9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94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95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96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97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98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99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00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01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02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03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04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05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06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07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08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09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110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11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12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13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14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15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16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17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18.xml><?xml version="1.0" encoding="utf-8"?>
<p:tagLst xmlns:p="http://schemas.openxmlformats.org/presentationml/2006/main">
  <p:tag name="KSO_WM_UNIT_PLACING_PICTURE_USER_VIEWPORT" val="{&quot;height&quot;:3329,&quot;width&quot;:3770}"/>
</p:tagLst>
</file>

<file path=ppt/tags/tag11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2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2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2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2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26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12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2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3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3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32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33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3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3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36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37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3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3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4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4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4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4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4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4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4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4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4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4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50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15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52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53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5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5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56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57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5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5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6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6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6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6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6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6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6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6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6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6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7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7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72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73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7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7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76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77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7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7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8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8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8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8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8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8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8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8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8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8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9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9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92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93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9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9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96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197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198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ags/tag199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200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201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20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03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204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205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206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07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208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209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21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11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212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空白演示"/>
</p:tagLst>
</file>

<file path=ppt/tags/tag213.xml><?xml version="1.0" encoding="utf-8"?>
<p:tagLst xmlns:p="http://schemas.openxmlformats.org/presentationml/2006/main">
  <p:tag name="KSO_WM_UNIT_ISCONTENTSTITLE" val="0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  <p:tag name="KSO_WM_UNIT_PRESET_TEXT" val="在此输入您的封面副标题"/>
</p:tagLst>
</file>

<file path=ppt/tags/tag21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1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216.xml><?xml version="1.0" encoding="utf-8"?>
<p:tagLst xmlns:p="http://schemas.openxmlformats.org/presentationml/2006/main">
  <p:tag name="ISPRING_SCORM_RATE_SLIDES" val="0"/>
  <p:tag name="ISPRING_SCORM_RATE_QUIZZES" val="0"/>
  <p:tag name="ISPRING_SCORM_PASSING_SCORE" val="0.000000"/>
  <p:tag name="ISPRING_ULTRA_SCORM_COURSE_ID" val="B5C05C61-D5D4-44B4-B47F-C512FD34F8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C:\Users\codi\Desktop\20190715包图\2"/>
  <p:tag name="ISPRING_PRESENTATION_TITLE" val="橙色稳重商务风商业计划书PPT模板"/>
  <p:tag name="ISPRING_FIRST_PUBLISH" val="1"/>
  <p:tag name="commondata" val="eyJoZGlkIjoiMzEwNTM5NzYwMDRjMzkwZTVkZjY2ODkwMGIxNGU0OTUifQ=="/>
</p:tagLst>
</file>

<file path=ppt/theme/theme1.xml><?xml version="1.0" encoding="utf-8"?>
<a:theme xmlns:a="http://schemas.openxmlformats.org/drawingml/2006/main" name="第一PPT，www.1ppt.com">
  <a:themeElements>
    <a:clrScheme name="自定义 317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48A2A0"/>
      </a:accent1>
      <a:accent2>
        <a:srgbClr val="6C92C0"/>
      </a:accent2>
      <a:accent3>
        <a:srgbClr val="3EA592"/>
      </a:accent3>
      <a:accent4>
        <a:srgbClr val="5066A1"/>
      </a:accent4>
      <a:accent5>
        <a:srgbClr val="5E5CA2"/>
      </a:accent5>
      <a:accent6>
        <a:srgbClr val="768394"/>
      </a:accent6>
      <a:hlink>
        <a:srgbClr val="4276AA"/>
      </a:hlink>
      <a:folHlink>
        <a:srgbClr val="BFBFBF"/>
      </a:folHlink>
    </a:clrScheme>
    <a:fontScheme name="ha1jvetz">
      <a:majorFont>
        <a:latin typeface="印品黑体"/>
        <a:ea typeface="印品黑体"/>
        <a:cs typeface=""/>
      </a:majorFont>
      <a:minorFont>
        <a:latin typeface="印品黑体"/>
        <a:ea typeface="印品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3">
            <a:lumMod val="40000"/>
            <a:lumOff val="60000"/>
          </a:schemeClr>
        </a:solidFill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4682</Words>
  <Application>WPS 演示</Application>
  <PresentationFormat>宽屏</PresentationFormat>
  <Paragraphs>515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腾讯字体</vt:lpstr>
      <vt:lpstr>Wingdings</vt:lpstr>
      <vt:lpstr>仿宋</vt:lpstr>
      <vt:lpstr>印品黑体</vt:lpstr>
      <vt:lpstr>黑体</vt:lpstr>
      <vt:lpstr>Arial Unicode MS</vt:lpstr>
      <vt:lpstr>等线</vt:lpstr>
      <vt:lpstr>华文仿宋</vt:lpstr>
      <vt:lpstr>Calibri</vt:lpstr>
      <vt:lpstr>第一PPT，www.1ppt.com</vt:lpstr>
      <vt:lpstr>自定义设计方案</vt:lpstr>
      <vt:lpstr>1_Office 主题​​</vt:lpstr>
      <vt:lpstr>PowerPoint 演示文稿</vt:lpstr>
      <vt:lpstr>PowerPoint 演示文稿</vt:lpstr>
      <vt:lpstr>PowerPoint 演示文稿</vt:lpstr>
      <vt:lpstr>空白演示</vt:lpstr>
      <vt:lpstr>空白演示</vt:lpstr>
      <vt:lpstr>PowerPoint 演示文稿</vt:lpstr>
      <vt:lpstr>空白演示</vt:lpstr>
      <vt:lpstr>空白演示</vt:lpstr>
      <vt:lpstr>空白演示</vt:lpstr>
      <vt:lpstr>PowerPoint 演示文稿</vt:lpstr>
      <vt:lpstr>空白演示</vt:lpstr>
      <vt:lpstr>空白演示</vt:lpstr>
      <vt:lpstr>PowerPoint 演示文稿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空白演示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极简工作总结</dc:title>
  <dc:creator/>
  <cp:keywords>www.1ppt.com</cp:keywords>
  <dc:description>www.1ppt.com</dc:description>
  <cp:lastModifiedBy>何静</cp:lastModifiedBy>
  <cp:revision>13</cp:revision>
  <dcterms:created xsi:type="dcterms:W3CDTF">2021-08-15T13:41:00Z</dcterms:created>
  <dcterms:modified xsi:type="dcterms:W3CDTF">2024-11-16T08:21:20Z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2CC79307955D42A589844179D68D7FBF_12</vt:lpwstr>
  </property>
  <property fmtid="{D5CDD505-2E9C-101B-9397-08002B2CF9AE}" pid="3" name="KSOProductBuildVer">
    <vt:lpwstr>2052-12.1.0.18345</vt:lpwstr>
  </property>
</Properties>
</file>